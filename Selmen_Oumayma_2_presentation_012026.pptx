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67" r:id="rId2"/>
    <p:sldId id="257" r:id="rId3"/>
    <p:sldId id="258" r:id="rId4"/>
    <p:sldId id="256" r:id="rId5"/>
    <p:sldId id="259" r:id="rId6"/>
    <p:sldId id="260" r:id="rId7"/>
    <p:sldId id="261" r:id="rId8"/>
    <p:sldId id="262" r:id="rId9"/>
    <p:sldId id="263" r:id="rId10"/>
    <p:sldId id="268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umayma Selmen" userId="2b25d63dd9e0eb8f" providerId="LiveId" clId="{7FB99136-C526-430D-B930-DC2125A2397C}"/>
    <pc:docChg chg="custSel modSld">
      <pc:chgData name="Oumayma Selmen" userId="2b25d63dd9e0eb8f" providerId="LiveId" clId="{7FB99136-C526-430D-B930-DC2125A2397C}" dt="2026-02-21T15:52:46.808" v="1" actId="20577"/>
      <pc:docMkLst>
        <pc:docMk/>
      </pc:docMkLst>
      <pc:sldChg chg="modSp mod">
        <pc:chgData name="Oumayma Selmen" userId="2b25d63dd9e0eb8f" providerId="LiveId" clId="{7FB99136-C526-430D-B930-DC2125A2397C}" dt="2026-02-21T15:52:46.808" v="1" actId="20577"/>
        <pc:sldMkLst>
          <pc:docMk/>
          <pc:sldMk cId="0" sldId="256"/>
        </pc:sldMkLst>
        <pc:graphicFrameChg chg="modGraphic">
          <ac:chgData name="Oumayma Selmen" userId="2b25d63dd9e0eb8f" providerId="LiveId" clId="{7FB99136-C526-430D-B930-DC2125A2397C}" dt="2026-02-21T15:52:46.808" v="1" actId="20577"/>
          <ac:graphicFrameMkLst>
            <pc:docMk/>
            <pc:sldMk cId="0" sldId="256"/>
            <ac:graphicFrameMk id="121" creationId="{00000000-0000-0000-0000-000000000000}"/>
          </ac:graphicFrameMkLst>
        </pc:graphicFrame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6_2">
  <dgm:title val=""/>
  <dgm:desc val=""/>
  <dgm:catLst>
    <dgm:cat type="accent6" pri="16200"/>
  </dgm:catLst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4#1">
  <dgm:title val=""/>
  <dgm:desc val=""/>
  <dgm:catLst>
    <dgm:cat type="accent1" pri="11400"/>
  </dgm:catLst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4#2">
  <dgm:title val=""/>
  <dgm:desc val=""/>
  <dgm:catLst>
    <dgm:cat type="accent1" pri="11400"/>
  </dgm:catLst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F4B5D9-FB6E-4C50-9700-FE0082E2A41F}" type="doc">
      <dgm:prSet loTypeId="urn:microsoft.com/office/officeart/2005/8/layout/process5#1" loCatId="process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CEA04EA5-6CAD-4905-B122-59622F86113D}">
      <dgm:prSet/>
      <dgm:spPr/>
      <dgm:t>
        <a:bodyPr/>
        <a:lstStyle/>
        <a:p>
          <a:r>
            <a:rPr lang="en-US" b="1"/>
            <a:t>Objectif : </a:t>
          </a:r>
          <a:r>
            <a:rPr lang="en-US"/>
            <a:t>Neutralité Carbone 2050 : Le Radar Énergétique de Seattle.</a:t>
          </a:r>
        </a:p>
      </dgm:t>
    </dgm:pt>
    <dgm:pt modelId="{C22A8E99-A716-428C-BE10-8303D51266E5}" type="parTrans" cxnId="{99C4817E-50B3-4FEF-B900-EE69FA29837A}">
      <dgm:prSet/>
      <dgm:spPr/>
      <dgm:t>
        <a:bodyPr/>
        <a:lstStyle/>
        <a:p>
          <a:endParaRPr lang="en-US"/>
        </a:p>
      </dgm:t>
    </dgm:pt>
    <dgm:pt modelId="{4096CBF7-967C-49A4-BE5D-43E553437BA5}" type="sibTrans" cxnId="{99C4817E-50B3-4FEF-B900-EE69FA29837A}">
      <dgm:prSet/>
      <dgm:spPr/>
      <dgm:t>
        <a:bodyPr/>
        <a:lstStyle/>
        <a:p>
          <a:endParaRPr lang="en-US"/>
        </a:p>
      </dgm:t>
    </dgm:pt>
    <dgm:pt modelId="{31D73013-AA77-41C2-A880-141F3BAB3BEE}">
      <dgm:prSet/>
      <dgm:spPr/>
      <dgm:t>
        <a:bodyPr/>
        <a:lstStyle/>
        <a:p>
          <a:r>
            <a:rPr lang="en-US" b="1"/>
            <a:t>Le problème :</a:t>
          </a:r>
          <a:r>
            <a:rPr lang="en-US"/>
            <a:t> L'audit physique des bâtiments est un goulot d'étranglement financier et temporel.</a:t>
          </a:r>
        </a:p>
      </dgm:t>
    </dgm:pt>
    <dgm:pt modelId="{3B0185AB-04D6-4178-820F-A5CC7655E54E}" type="parTrans" cxnId="{68CE4A12-D384-4DE2-B268-673A040133DE}">
      <dgm:prSet/>
      <dgm:spPr/>
      <dgm:t>
        <a:bodyPr/>
        <a:lstStyle/>
        <a:p>
          <a:endParaRPr lang="en-US"/>
        </a:p>
      </dgm:t>
    </dgm:pt>
    <dgm:pt modelId="{A0CAFAF1-324E-47E9-873C-7BEF019F26FF}" type="sibTrans" cxnId="{68CE4A12-D384-4DE2-B268-673A040133DE}">
      <dgm:prSet/>
      <dgm:spPr/>
      <dgm:t>
        <a:bodyPr/>
        <a:lstStyle/>
        <a:p>
          <a:endParaRPr lang="en-US"/>
        </a:p>
      </dgm:t>
    </dgm:pt>
    <dgm:pt modelId="{E175385E-3263-492B-B587-40CCCA6C2DE0}">
      <dgm:prSet/>
      <dgm:spPr/>
      <dgm:t>
        <a:bodyPr/>
        <a:lstStyle/>
        <a:p>
          <a:r>
            <a:rPr lang="en-US" b="1"/>
            <a:t>La solution :</a:t>
          </a:r>
          <a:r>
            <a:rPr lang="en-US"/>
            <a:t> Un modèle prédictif basé sur des données structurelles simples pour identifier les "passoires énergétiques" sans intervention humaine.</a:t>
          </a:r>
        </a:p>
      </dgm:t>
    </dgm:pt>
    <dgm:pt modelId="{4BB09E26-151E-4678-ABA8-9E168C6F6039}" type="parTrans" cxnId="{DC0CFB79-24F1-4BD4-BF22-34559D82D586}">
      <dgm:prSet/>
      <dgm:spPr/>
      <dgm:t>
        <a:bodyPr/>
        <a:lstStyle/>
        <a:p>
          <a:endParaRPr lang="en-US"/>
        </a:p>
      </dgm:t>
    </dgm:pt>
    <dgm:pt modelId="{511949D7-E9E9-426E-ABEB-29C56F657CFF}" type="sibTrans" cxnId="{DC0CFB79-24F1-4BD4-BF22-34559D82D586}">
      <dgm:prSet/>
      <dgm:spPr/>
      <dgm:t>
        <a:bodyPr/>
        <a:lstStyle/>
        <a:p>
          <a:endParaRPr lang="en-US"/>
        </a:p>
      </dgm:t>
    </dgm:pt>
    <dgm:pt modelId="{A4F3D348-514B-46C3-B289-3BD619F8F92C}">
      <dgm:prSet/>
      <dgm:spPr/>
      <dgm:t>
        <a:bodyPr/>
        <a:lstStyle/>
        <a:p>
          <a:r>
            <a:rPr lang="en-US" b="1"/>
            <a:t>L'impact :</a:t>
          </a:r>
          <a:r>
            <a:rPr lang="en-US"/>
            <a:t> Allouer les subventions de rénovation là où elles auront le plus d'effet écologique</a:t>
          </a:r>
        </a:p>
      </dgm:t>
    </dgm:pt>
    <dgm:pt modelId="{98A7C4DA-08A8-4D52-B027-BB600B1D7E13}" type="parTrans" cxnId="{98828113-F207-4743-B0F0-C836CF7504AF}">
      <dgm:prSet/>
      <dgm:spPr/>
      <dgm:t>
        <a:bodyPr/>
        <a:lstStyle/>
        <a:p>
          <a:endParaRPr lang="en-US"/>
        </a:p>
      </dgm:t>
    </dgm:pt>
    <dgm:pt modelId="{D3E3159C-160B-41E0-9E62-97CC6026419C}" type="sibTrans" cxnId="{98828113-F207-4743-B0F0-C836CF7504AF}">
      <dgm:prSet/>
      <dgm:spPr/>
      <dgm:t>
        <a:bodyPr/>
        <a:lstStyle/>
        <a:p>
          <a:endParaRPr lang="en-US"/>
        </a:p>
      </dgm:t>
    </dgm:pt>
    <dgm:pt modelId="{60B65498-5246-4FA8-A0ED-46E9D1E8949E}" type="pres">
      <dgm:prSet presAssocID="{C2F4B5D9-FB6E-4C50-9700-FE0082E2A41F}" presName="diagram" presStyleCnt="0">
        <dgm:presLayoutVars>
          <dgm:dir/>
          <dgm:resizeHandles val="exact"/>
        </dgm:presLayoutVars>
      </dgm:prSet>
      <dgm:spPr/>
    </dgm:pt>
    <dgm:pt modelId="{275C0144-5B82-4F5C-B8D5-DC719B14A533}" type="pres">
      <dgm:prSet presAssocID="{CEA04EA5-6CAD-4905-B122-59622F86113D}" presName="node" presStyleLbl="node1" presStyleIdx="0" presStyleCnt="4">
        <dgm:presLayoutVars>
          <dgm:bulletEnabled val="1"/>
        </dgm:presLayoutVars>
      </dgm:prSet>
      <dgm:spPr/>
    </dgm:pt>
    <dgm:pt modelId="{FFD9F611-EF2C-49B2-BC65-1A1586B39CA8}" type="pres">
      <dgm:prSet presAssocID="{4096CBF7-967C-49A4-BE5D-43E553437BA5}" presName="sibTrans" presStyleLbl="sibTrans2D1" presStyleIdx="0" presStyleCnt="3"/>
      <dgm:spPr/>
    </dgm:pt>
    <dgm:pt modelId="{F17CC556-ADC7-4EC3-A5EE-A3363F2D3530}" type="pres">
      <dgm:prSet presAssocID="{4096CBF7-967C-49A4-BE5D-43E553437BA5}" presName="connectorText" presStyleLbl="sibTrans2D1" presStyleIdx="0" presStyleCnt="3"/>
      <dgm:spPr/>
    </dgm:pt>
    <dgm:pt modelId="{0DE2407A-DD11-4365-92DB-EA1B4A1BB565}" type="pres">
      <dgm:prSet presAssocID="{31D73013-AA77-41C2-A880-141F3BAB3BEE}" presName="node" presStyleLbl="node1" presStyleIdx="1" presStyleCnt="4">
        <dgm:presLayoutVars>
          <dgm:bulletEnabled val="1"/>
        </dgm:presLayoutVars>
      </dgm:prSet>
      <dgm:spPr/>
    </dgm:pt>
    <dgm:pt modelId="{8F5E29F4-5063-4EFA-ADAC-2A508E6EAF97}" type="pres">
      <dgm:prSet presAssocID="{A0CAFAF1-324E-47E9-873C-7BEF019F26FF}" presName="sibTrans" presStyleLbl="sibTrans2D1" presStyleIdx="1" presStyleCnt="3"/>
      <dgm:spPr/>
    </dgm:pt>
    <dgm:pt modelId="{094C6049-928B-42C1-94B4-B3F32E935501}" type="pres">
      <dgm:prSet presAssocID="{A0CAFAF1-324E-47E9-873C-7BEF019F26FF}" presName="connectorText" presStyleLbl="sibTrans2D1" presStyleIdx="1" presStyleCnt="3"/>
      <dgm:spPr/>
    </dgm:pt>
    <dgm:pt modelId="{DA5B9C8D-E2BC-42EE-9D10-801AEDC2A017}" type="pres">
      <dgm:prSet presAssocID="{E175385E-3263-492B-B587-40CCCA6C2DE0}" presName="node" presStyleLbl="node1" presStyleIdx="2" presStyleCnt="4">
        <dgm:presLayoutVars>
          <dgm:bulletEnabled val="1"/>
        </dgm:presLayoutVars>
      </dgm:prSet>
      <dgm:spPr/>
    </dgm:pt>
    <dgm:pt modelId="{2E783B2D-5A09-4171-87F8-95ADC5E3A588}" type="pres">
      <dgm:prSet presAssocID="{511949D7-E9E9-426E-ABEB-29C56F657CFF}" presName="sibTrans" presStyleLbl="sibTrans2D1" presStyleIdx="2" presStyleCnt="3"/>
      <dgm:spPr/>
    </dgm:pt>
    <dgm:pt modelId="{7714BA9B-274F-4FFC-8D3B-099D078E1E75}" type="pres">
      <dgm:prSet presAssocID="{511949D7-E9E9-426E-ABEB-29C56F657CFF}" presName="connectorText" presStyleLbl="sibTrans2D1" presStyleIdx="2" presStyleCnt="3"/>
      <dgm:spPr/>
    </dgm:pt>
    <dgm:pt modelId="{18C9AA9B-1C84-4C82-A199-027F91EF0730}" type="pres">
      <dgm:prSet presAssocID="{A4F3D348-514B-46C3-B289-3BD619F8F92C}" presName="node" presStyleLbl="node1" presStyleIdx="3" presStyleCnt="4">
        <dgm:presLayoutVars>
          <dgm:bulletEnabled val="1"/>
        </dgm:presLayoutVars>
      </dgm:prSet>
      <dgm:spPr/>
    </dgm:pt>
  </dgm:ptLst>
  <dgm:cxnLst>
    <dgm:cxn modelId="{A9ED5E02-36D9-4AAD-B1F7-20801207B84E}" type="presOf" srcId="{A0CAFAF1-324E-47E9-873C-7BEF019F26FF}" destId="{8F5E29F4-5063-4EFA-ADAC-2A508E6EAF97}" srcOrd="0" destOrd="0" presId="urn:microsoft.com/office/officeart/2005/8/layout/process5#1"/>
    <dgm:cxn modelId="{22019E0B-5CE2-4E76-B3A3-44A0234B29CF}" type="presOf" srcId="{4096CBF7-967C-49A4-BE5D-43E553437BA5}" destId="{F17CC556-ADC7-4EC3-A5EE-A3363F2D3530}" srcOrd="1" destOrd="0" presId="urn:microsoft.com/office/officeart/2005/8/layout/process5#1"/>
    <dgm:cxn modelId="{68CE4A12-D384-4DE2-B268-673A040133DE}" srcId="{C2F4B5D9-FB6E-4C50-9700-FE0082E2A41F}" destId="{31D73013-AA77-41C2-A880-141F3BAB3BEE}" srcOrd="1" destOrd="0" parTransId="{3B0185AB-04D6-4178-820F-A5CC7655E54E}" sibTransId="{A0CAFAF1-324E-47E9-873C-7BEF019F26FF}"/>
    <dgm:cxn modelId="{98828113-F207-4743-B0F0-C836CF7504AF}" srcId="{C2F4B5D9-FB6E-4C50-9700-FE0082E2A41F}" destId="{A4F3D348-514B-46C3-B289-3BD619F8F92C}" srcOrd="3" destOrd="0" parTransId="{98A7C4DA-08A8-4D52-B027-BB600B1D7E13}" sibTransId="{D3E3159C-160B-41E0-9E62-97CC6026419C}"/>
    <dgm:cxn modelId="{9FCE441A-37CA-4677-B2AA-EC83AE1A38FD}" type="presOf" srcId="{4096CBF7-967C-49A4-BE5D-43E553437BA5}" destId="{FFD9F611-EF2C-49B2-BC65-1A1586B39CA8}" srcOrd="0" destOrd="0" presId="urn:microsoft.com/office/officeart/2005/8/layout/process5#1"/>
    <dgm:cxn modelId="{1CB0EF49-F105-4754-85F8-5439317AE816}" type="presOf" srcId="{E175385E-3263-492B-B587-40CCCA6C2DE0}" destId="{DA5B9C8D-E2BC-42EE-9D10-801AEDC2A017}" srcOrd="0" destOrd="0" presId="urn:microsoft.com/office/officeart/2005/8/layout/process5#1"/>
    <dgm:cxn modelId="{ECB35E4A-DEDA-4639-B697-D4F17D4594FD}" type="presOf" srcId="{31D73013-AA77-41C2-A880-141F3BAB3BEE}" destId="{0DE2407A-DD11-4365-92DB-EA1B4A1BB565}" srcOrd="0" destOrd="0" presId="urn:microsoft.com/office/officeart/2005/8/layout/process5#1"/>
    <dgm:cxn modelId="{DC0CFB79-24F1-4BD4-BF22-34559D82D586}" srcId="{C2F4B5D9-FB6E-4C50-9700-FE0082E2A41F}" destId="{E175385E-3263-492B-B587-40CCCA6C2DE0}" srcOrd="2" destOrd="0" parTransId="{4BB09E26-151E-4678-ABA8-9E168C6F6039}" sibTransId="{511949D7-E9E9-426E-ABEB-29C56F657CFF}"/>
    <dgm:cxn modelId="{47648E7B-5085-4D88-A22F-876A8F9F36EB}" type="presOf" srcId="{A0CAFAF1-324E-47E9-873C-7BEF019F26FF}" destId="{094C6049-928B-42C1-94B4-B3F32E935501}" srcOrd="1" destOrd="0" presId="urn:microsoft.com/office/officeart/2005/8/layout/process5#1"/>
    <dgm:cxn modelId="{99C4817E-50B3-4FEF-B900-EE69FA29837A}" srcId="{C2F4B5D9-FB6E-4C50-9700-FE0082E2A41F}" destId="{CEA04EA5-6CAD-4905-B122-59622F86113D}" srcOrd="0" destOrd="0" parTransId="{C22A8E99-A716-428C-BE10-8303D51266E5}" sibTransId="{4096CBF7-967C-49A4-BE5D-43E553437BA5}"/>
    <dgm:cxn modelId="{45DCA07E-ACFE-46AC-A4BE-86B98F9AC966}" type="presOf" srcId="{A4F3D348-514B-46C3-B289-3BD619F8F92C}" destId="{18C9AA9B-1C84-4C82-A199-027F91EF0730}" srcOrd="0" destOrd="0" presId="urn:microsoft.com/office/officeart/2005/8/layout/process5#1"/>
    <dgm:cxn modelId="{0359C782-0235-42ED-A978-72BA9CA62F03}" type="presOf" srcId="{511949D7-E9E9-426E-ABEB-29C56F657CFF}" destId="{7714BA9B-274F-4FFC-8D3B-099D078E1E75}" srcOrd="1" destOrd="0" presId="urn:microsoft.com/office/officeart/2005/8/layout/process5#1"/>
    <dgm:cxn modelId="{07E32FAC-8502-479D-9C83-A9D47EE976B7}" type="presOf" srcId="{CEA04EA5-6CAD-4905-B122-59622F86113D}" destId="{275C0144-5B82-4F5C-B8D5-DC719B14A533}" srcOrd="0" destOrd="0" presId="urn:microsoft.com/office/officeart/2005/8/layout/process5#1"/>
    <dgm:cxn modelId="{F77DFDE6-5BF0-4524-AFD0-B02BD807518E}" type="presOf" srcId="{C2F4B5D9-FB6E-4C50-9700-FE0082E2A41F}" destId="{60B65498-5246-4FA8-A0ED-46E9D1E8949E}" srcOrd="0" destOrd="0" presId="urn:microsoft.com/office/officeart/2005/8/layout/process5#1"/>
    <dgm:cxn modelId="{103ED4F4-E3D7-4429-A154-FE8431A6AFD6}" type="presOf" srcId="{511949D7-E9E9-426E-ABEB-29C56F657CFF}" destId="{2E783B2D-5A09-4171-87F8-95ADC5E3A588}" srcOrd="0" destOrd="0" presId="urn:microsoft.com/office/officeart/2005/8/layout/process5#1"/>
    <dgm:cxn modelId="{90DE33A5-B3DB-4B09-9356-7E6AEABDF839}" type="presParOf" srcId="{60B65498-5246-4FA8-A0ED-46E9D1E8949E}" destId="{275C0144-5B82-4F5C-B8D5-DC719B14A533}" srcOrd="0" destOrd="0" presId="urn:microsoft.com/office/officeart/2005/8/layout/process5#1"/>
    <dgm:cxn modelId="{0C538D12-0340-4A35-B500-2DD38ECB680F}" type="presParOf" srcId="{60B65498-5246-4FA8-A0ED-46E9D1E8949E}" destId="{FFD9F611-EF2C-49B2-BC65-1A1586B39CA8}" srcOrd="1" destOrd="0" presId="urn:microsoft.com/office/officeart/2005/8/layout/process5#1"/>
    <dgm:cxn modelId="{0E08EA74-6F89-4915-BA2A-3CFA232787A6}" type="presParOf" srcId="{FFD9F611-EF2C-49B2-BC65-1A1586B39CA8}" destId="{F17CC556-ADC7-4EC3-A5EE-A3363F2D3530}" srcOrd="0" destOrd="0" presId="urn:microsoft.com/office/officeart/2005/8/layout/process5#1"/>
    <dgm:cxn modelId="{4A7C01C9-7AD1-4FE7-A0BC-43AC09655F0B}" type="presParOf" srcId="{60B65498-5246-4FA8-A0ED-46E9D1E8949E}" destId="{0DE2407A-DD11-4365-92DB-EA1B4A1BB565}" srcOrd="2" destOrd="0" presId="urn:microsoft.com/office/officeart/2005/8/layout/process5#1"/>
    <dgm:cxn modelId="{41B7EBE2-915E-4092-8589-C0EB19507E96}" type="presParOf" srcId="{60B65498-5246-4FA8-A0ED-46E9D1E8949E}" destId="{8F5E29F4-5063-4EFA-ADAC-2A508E6EAF97}" srcOrd="3" destOrd="0" presId="urn:microsoft.com/office/officeart/2005/8/layout/process5#1"/>
    <dgm:cxn modelId="{E8A66051-712C-4C60-AD11-D9187E9A1638}" type="presParOf" srcId="{8F5E29F4-5063-4EFA-ADAC-2A508E6EAF97}" destId="{094C6049-928B-42C1-94B4-B3F32E935501}" srcOrd="0" destOrd="0" presId="urn:microsoft.com/office/officeart/2005/8/layout/process5#1"/>
    <dgm:cxn modelId="{775038CD-93A4-4C68-8A7B-00B38060FB8A}" type="presParOf" srcId="{60B65498-5246-4FA8-A0ED-46E9D1E8949E}" destId="{DA5B9C8D-E2BC-42EE-9D10-801AEDC2A017}" srcOrd="4" destOrd="0" presId="urn:microsoft.com/office/officeart/2005/8/layout/process5#1"/>
    <dgm:cxn modelId="{9DD214F1-6A57-489F-9C76-3C5C1198E4CC}" type="presParOf" srcId="{60B65498-5246-4FA8-A0ED-46E9D1E8949E}" destId="{2E783B2D-5A09-4171-87F8-95ADC5E3A588}" srcOrd="5" destOrd="0" presId="urn:microsoft.com/office/officeart/2005/8/layout/process5#1"/>
    <dgm:cxn modelId="{043D668C-15F6-4013-9D18-77508D5B414D}" type="presParOf" srcId="{2E783B2D-5A09-4171-87F8-95ADC5E3A588}" destId="{7714BA9B-274F-4FFC-8D3B-099D078E1E75}" srcOrd="0" destOrd="0" presId="urn:microsoft.com/office/officeart/2005/8/layout/process5#1"/>
    <dgm:cxn modelId="{DC97FA33-AEA8-49C2-9459-D82233D5681D}" type="presParOf" srcId="{60B65498-5246-4FA8-A0ED-46E9D1E8949E}" destId="{18C9AA9B-1C84-4C82-A199-027F91EF0730}" srcOrd="6" destOrd="0" presId="urn:microsoft.com/office/officeart/2005/8/layout/process5#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953145-FE6A-4DBD-93E2-B23E5C910D52}" type="doc">
      <dgm:prSet loTypeId="urn:microsoft.com/office/officeart/2005/8/layout/vProcess5" loCatId="process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0E4EA21E-AD29-4FF3-A801-546E32E116B0}">
      <dgm:prSet custT="1"/>
      <dgm:spPr/>
      <dgm:t>
        <a:bodyPr/>
        <a:lstStyle/>
        <a:p>
          <a:pPr algn="just"/>
          <a:r>
            <a:rPr lang="fr-FR" sz="2000" b="1" dirty="0"/>
            <a:t>Le défi : </a:t>
          </a:r>
          <a:r>
            <a:rPr lang="fr-FR" sz="2000" dirty="0"/>
            <a:t>Démarrage avec un jeu de données robuste de 3 376 bâtiments, comprenant 46 indicateurs initiaux couvrant divers aspects immobiliers et énergétiques. Une minorité de bâtiments (gratte-ciels, hôpitaux) consomme autant que le reste de la ville.</a:t>
          </a:r>
          <a:endParaRPr lang="en-US" sz="2000" dirty="0"/>
        </a:p>
      </dgm:t>
    </dgm:pt>
    <dgm:pt modelId="{52C9C181-D384-44F0-842E-6E3F59B880B1}" type="parTrans" cxnId="{5CC0B70B-F3F8-4C43-828E-49BCF11F11D3}">
      <dgm:prSet/>
      <dgm:spPr/>
      <dgm:t>
        <a:bodyPr/>
        <a:lstStyle/>
        <a:p>
          <a:endParaRPr lang="en-US"/>
        </a:p>
      </dgm:t>
    </dgm:pt>
    <dgm:pt modelId="{179A6BED-99F4-4B41-933D-AABDCA92AA79}" type="sibTrans" cxnId="{5CC0B70B-F3F8-4C43-828E-49BCF11F11D3}">
      <dgm:prSet/>
      <dgm:spPr/>
      <dgm:t>
        <a:bodyPr/>
        <a:lstStyle/>
        <a:p>
          <a:endParaRPr lang="en-US"/>
        </a:p>
      </dgm:t>
    </dgm:pt>
    <dgm:pt modelId="{7F5FDBBA-EA25-498B-8485-7541F398C60B}">
      <dgm:prSet custT="1"/>
      <dgm:spPr/>
      <dgm:t>
        <a:bodyPr/>
        <a:lstStyle/>
        <a:p>
          <a:r>
            <a:rPr lang="fr-FR" sz="2000" b="1" dirty="0"/>
            <a:t>Filtrage métier : </a:t>
          </a:r>
          <a:r>
            <a:rPr lang="fr-FR" sz="2000" dirty="0"/>
            <a:t>Focus exclusif sur les bâtiments non-résidentiels (exclusion du secteur résidentiel pour répondre à la problématique tertiaire).</a:t>
          </a:r>
          <a:endParaRPr lang="en-US" sz="2000" dirty="0"/>
        </a:p>
      </dgm:t>
    </dgm:pt>
    <dgm:pt modelId="{DFF37799-E6FA-4977-AD5E-5DC0DD723132}" type="parTrans" cxnId="{460170EC-37FF-4064-AB34-BAA0DEA967BC}">
      <dgm:prSet/>
      <dgm:spPr/>
      <dgm:t>
        <a:bodyPr/>
        <a:lstStyle/>
        <a:p>
          <a:endParaRPr lang="en-US"/>
        </a:p>
      </dgm:t>
    </dgm:pt>
    <dgm:pt modelId="{8F51907A-A8C3-405B-A527-724ECC2A4246}" type="sibTrans" cxnId="{460170EC-37FF-4064-AB34-BAA0DEA967BC}">
      <dgm:prSet/>
      <dgm:spPr/>
      <dgm:t>
        <a:bodyPr/>
        <a:lstStyle/>
        <a:p>
          <a:endParaRPr lang="en-US"/>
        </a:p>
      </dgm:t>
    </dgm:pt>
    <dgm:pt modelId="{A1B64895-84B0-4B4B-8042-172A2884EBA6}">
      <dgm:prSet custT="1"/>
      <dgm:spPr/>
      <dgm:t>
        <a:bodyPr/>
        <a:lstStyle/>
        <a:p>
          <a:r>
            <a:rPr lang="fr-FR" sz="2000" b="1" dirty="0"/>
            <a:t>Décision : </a:t>
          </a:r>
          <a:r>
            <a:rPr lang="fr-FR" sz="2000" dirty="0"/>
            <a:t>Impossible de modéliser des chiffres aussi disparates sans correction statistique.</a:t>
          </a:r>
          <a:endParaRPr lang="en-US" sz="2000" dirty="0"/>
        </a:p>
      </dgm:t>
    </dgm:pt>
    <dgm:pt modelId="{ADD9D326-0BC6-4EFE-AEA4-AE7DD112DE38}" type="parTrans" cxnId="{196BC983-CC2B-485D-97B7-33DC56806234}">
      <dgm:prSet/>
      <dgm:spPr/>
      <dgm:t>
        <a:bodyPr/>
        <a:lstStyle/>
        <a:p>
          <a:endParaRPr lang="en-US"/>
        </a:p>
      </dgm:t>
    </dgm:pt>
    <dgm:pt modelId="{0F2F7D35-BA48-4E0F-9BA2-8711162D3F96}" type="sibTrans" cxnId="{196BC983-CC2B-485D-97B7-33DC56806234}">
      <dgm:prSet/>
      <dgm:spPr/>
      <dgm:t>
        <a:bodyPr/>
        <a:lstStyle/>
        <a:p>
          <a:endParaRPr lang="en-US"/>
        </a:p>
      </dgm:t>
    </dgm:pt>
    <dgm:pt modelId="{4C3863EA-BD6F-4CE6-90C5-36AF2A16627A}" type="pres">
      <dgm:prSet presAssocID="{A0953145-FE6A-4DBD-93E2-B23E5C910D52}" presName="outerComposite" presStyleCnt="0">
        <dgm:presLayoutVars>
          <dgm:chMax val="5"/>
          <dgm:dir/>
          <dgm:resizeHandles val="exact"/>
        </dgm:presLayoutVars>
      </dgm:prSet>
      <dgm:spPr/>
    </dgm:pt>
    <dgm:pt modelId="{1557325B-99AA-4A5E-8EB4-209636D77914}" type="pres">
      <dgm:prSet presAssocID="{A0953145-FE6A-4DBD-93E2-B23E5C910D52}" presName="dummyMaxCanvas" presStyleCnt="0">
        <dgm:presLayoutVars/>
      </dgm:prSet>
      <dgm:spPr/>
    </dgm:pt>
    <dgm:pt modelId="{ABBCEC12-540B-4A39-8FAB-DCDCC7DC8A28}" type="pres">
      <dgm:prSet presAssocID="{A0953145-FE6A-4DBD-93E2-B23E5C910D52}" presName="ThreeNodes_1" presStyleLbl="node1" presStyleIdx="0" presStyleCnt="3">
        <dgm:presLayoutVars>
          <dgm:bulletEnabled val="1"/>
        </dgm:presLayoutVars>
      </dgm:prSet>
      <dgm:spPr/>
    </dgm:pt>
    <dgm:pt modelId="{2337A7F1-07F4-49AA-92F4-74AE70CD79F6}" type="pres">
      <dgm:prSet presAssocID="{A0953145-FE6A-4DBD-93E2-B23E5C910D52}" presName="ThreeNodes_2" presStyleLbl="node1" presStyleIdx="1" presStyleCnt="3">
        <dgm:presLayoutVars>
          <dgm:bulletEnabled val="1"/>
        </dgm:presLayoutVars>
      </dgm:prSet>
      <dgm:spPr/>
    </dgm:pt>
    <dgm:pt modelId="{E7A8163E-11C0-47E5-8793-0E25813FC77E}" type="pres">
      <dgm:prSet presAssocID="{A0953145-FE6A-4DBD-93E2-B23E5C910D52}" presName="ThreeNodes_3" presStyleLbl="node1" presStyleIdx="2" presStyleCnt="3">
        <dgm:presLayoutVars>
          <dgm:bulletEnabled val="1"/>
        </dgm:presLayoutVars>
      </dgm:prSet>
      <dgm:spPr/>
    </dgm:pt>
    <dgm:pt modelId="{7EE094B5-13D8-4D23-AD97-B4586572FD7E}" type="pres">
      <dgm:prSet presAssocID="{A0953145-FE6A-4DBD-93E2-B23E5C910D52}" presName="ThreeConn_1-2" presStyleLbl="fgAccFollowNode1" presStyleIdx="0" presStyleCnt="2">
        <dgm:presLayoutVars>
          <dgm:bulletEnabled val="1"/>
        </dgm:presLayoutVars>
      </dgm:prSet>
      <dgm:spPr/>
    </dgm:pt>
    <dgm:pt modelId="{84AACDA1-A992-4814-A0F7-D5712004D270}" type="pres">
      <dgm:prSet presAssocID="{A0953145-FE6A-4DBD-93E2-B23E5C910D52}" presName="ThreeConn_2-3" presStyleLbl="fgAccFollowNode1" presStyleIdx="1" presStyleCnt="2">
        <dgm:presLayoutVars>
          <dgm:bulletEnabled val="1"/>
        </dgm:presLayoutVars>
      </dgm:prSet>
      <dgm:spPr/>
    </dgm:pt>
    <dgm:pt modelId="{D57C34F6-7A22-4D7B-BF49-FE1DCFEB095D}" type="pres">
      <dgm:prSet presAssocID="{A0953145-FE6A-4DBD-93E2-B23E5C910D52}" presName="ThreeNodes_1_text" presStyleLbl="node1" presStyleIdx="2" presStyleCnt="3">
        <dgm:presLayoutVars>
          <dgm:bulletEnabled val="1"/>
        </dgm:presLayoutVars>
      </dgm:prSet>
      <dgm:spPr/>
    </dgm:pt>
    <dgm:pt modelId="{D8EE60F0-9673-459E-8155-E360D4386C18}" type="pres">
      <dgm:prSet presAssocID="{A0953145-FE6A-4DBD-93E2-B23E5C910D52}" presName="ThreeNodes_2_text" presStyleLbl="node1" presStyleIdx="2" presStyleCnt="3">
        <dgm:presLayoutVars>
          <dgm:bulletEnabled val="1"/>
        </dgm:presLayoutVars>
      </dgm:prSet>
      <dgm:spPr/>
    </dgm:pt>
    <dgm:pt modelId="{495841DB-A8C0-4014-955C-207687759A68}" type="pres">
      <dgm:prSet presAssocID="{A0953145-FE6A-4DBD-93E2-B23E5C910D5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CC0B70B-F3F8-4C43-828E-49BCF11F11D3}" srcId="{A0953145-FE6A-4DBD-93E2-B23E5C910D52}" destId="{0E4EA21E-AD29-4FF3-A801-546E32E116B0}" srcOrd="0" destOrd="0" parTransId="{52C9C181-D384-44F0-842E-6E3F59B880B1}" sibTransId="{179A6BED-99F4-4B41-933D-AABDCA92AA79}"/>
    <dgm:cxn modelId="{67EE6933-7F06-4237-8107-5E3720444D15}" type="presOf" srcId="{179A6BED-99F4-4B41-933D-AABDCA92AA79}" destId="{7EE094B5-13D8-4D23-AD97-B4586572FD7E}" srcOrd="0" destOrd="0" presId="urn:microsoft.com/office/officeart/2005/8/layout/vProcess5"/>
    <dgm:cxn modelId="{FD43233B-1922-41F4-A75E-7265C9DD9186}" type="presOf" srcId="{A1B64895-84B0-4B4B-8042-172A2884EBA6}" destId="{495841DB-A8C0-4014-955C-207687759A68}" srcOrd="1" destOrd="0" presId="urn:microsoft.com/office/officeart/2005/8/layout/vProcess5"/>
    <dgm:cxn modelId="{1AD9B340-31F6-476C-BC0D-E8B4E17563A8}" type="presOf" srcId="{8F51907A-A8C3-405B-A527-724ECC2A4246}" destId="{84AACDA1-A992-4814-A0F7-D5712004D270}" srcOrd="0" destOrd="0" presId="urn:microsoft.com/office/officeart/2005/8/layout/vProcess5"/>
    <dgm:cxn modelId="{F2DE2C72-67F8-4712-933E-F1973E89E2C8}" type="presOf" srcId="{0E4EA21E-AD29-4FF3-A801-546E32E116B0}" destId="{ABBCEC12-540B-4A39-8FAB-DCDCC7DC8A28}" srcOrd="0" destOrd="0" presId="urn:microsoft.com/office/officeart/2005/8/layout/vProcess5"/>
    <dgm:cxn modelId="{4D966456-48DA-40D5-8C6E-CAFFDD5B00F2}" type="presOf" srcId="{7F5FDBBA-EA25-498B-8485-7541F398C60B}" destId="{2337A7F1-07F4-49AA-92F4-74AE70CD79F6}" srcOrd="0" destOrd="0" presId="urn:microsoft.com/office/officeart/2005/8/layout/vProcess5"/>
    <dgm:cxn modelId="{196BC983-CC2B-485D-97B7-33DC56806234}" srcId="{A0953145-FE6A-4DBD-93E2-B23E5C910D52}" destId="{A1B64895-84B0-4B4B-8042-172A2884EBA6}" srcOrd="2" destOrd="0" parTransId="{ADD9D326-0BC6-4EFE-AEA4-AE7DD112DE38}" sibTransId="{0F2F7D35-BA48-4E0F-9BA2-8711162D3F96}"/>
    <dgm:cxn modelId="{407DCCB9-D283-45DF-B823-F94680942D63}" type="presOf" srcId="{A1B64895-84B0-4B4B-8042-172A2884EBA6}" destId="{E7A8163E-11C0-47E5-8793-0E25813FC77E}" srcOrd="0" destOrd="0" presId="urn:microsoft.com/office/officeart/2005/8/layout/vProcess5"/>
    <dgm:cxn modelId="{460170EC-37FF-4064-AB34-BAA0DEA967BC}" srcId="{A0953145-FE6A-4DBD-93E2-B23E5C910D52}" destId="{7F5FDBBA-EA25-498B-8485-7541F398C60B}" srcOrd="1" destOrd="0" parTransId="{DFF37799-E6FA-4977-AD5E-5DC0DD723132}" sibTransId="{8F51907A-A8C3-405B-A527-724ECC2A4246}"/>
    <dgm:cxn modelId="{19D397FA-1CA5-4135-8943-3C8CECE16EF8}" type="presOf" srcId="{A0953145-FE6A-4DBD-93E2-B23E5C910D52}" destId="{4C3863EA-BD6F-4CE6-90C5-36AF2A16627A}" srcOrd="0" destOrd="0" presId="urn:microsoft.com/office/officeart/2005/8/layout/vProcess5"/>
    <dgm:cxn modelId="{5280C5FA-65D0-48F9-A4A3-B11AC74292EB}" type="presOf" srcId="{0E4EA21E-AD29-4FF3-A801-546E32E116B0}" destId="{D57C34F6-7A22-4D7B-BF49-FE1DCFEB095D}" srcOrd="1" destOrd="0" presId="urn:microsoft.com/office/officeart/2005/8/layout/vProcess5"/>
    <dgm:cxn modelId="{8A5AC2FE-DE5D-4B90-8F7F-52209CE4DB7D}" type="presOf" srcId="{7F5FDBBA-EA25-498B-8485-7541F398C60B}" destId="{D8EE60F0-9673-459E-8155-E360D4386C18}" srcOrd="1" destOrd="0" presId="urn:microsoft.com/office/officeart/2005/8/layout/vProcess5"/>
    <dgm:cxn modelId="{5D6AD203-0049-4380-982F-33D641057C30}" type="presParOf" srcId="{4C3863EA-BD6F-4CE6-90C5-36AF2A16627A}" destId="{1557325B-99AA-4A5E-8EB4-209636D77914}" srcOrd="0" destOrd="0" presId="urn:microsoft.com/office/officeart/2005/8/layout/vProcess5"/>
    <dgm:cxn modelId="{E7EB176E-0E9D-4C02-A1A8-76E128223F77}" type="presParOf" srcId="{4C3863EA-BD6F-4CE6-90C5-36AF2A16627A}" destId="{ABBCEC12-540B-4A39-8FAB-DCDCC7DC8A28}" srcOrd="1" destOrd="0" presId="urn:microsoft.com/office/officeart/2005/8/layout/vProcess5"/>
    <dgm:cxn modelId="{F572B97E-B3BD-4E48-9756-A058F50E89C4}" type="presParOf" srcId="{4C3863EA-BD6F-4CE6-90C5-36AF2A16627A}" destId="{2337A7F1-07F4-49AA-92F4-74AE70CD79F6}" srcOrd="2" destOrd="0" presId="urn:microsoft.com/office/officeart/2005/8/layout/vProcess5"/>
    <dgm:cxn modelId="{CA9C2D1A-F483-465F-95C6-9CC5AAC273B2}" type="presParOf" srcId="{4C3863EA-BD6F-4CE6-90C5-36AF2A16627A}" destId="{E7A8163E-11C0-47E5-8793-0E25813FC77E}" srcOrd="3" destOrd="0" presId="urn:microsoft.com/office/officeart/2005/8/layout/vProcess5"/>
    <dgm:cxn modelId="{E1E54604-865A-407B-94E5-927FE7B9E541}" type="presParOf" srcId="{4C3863EA-BD6F-4CE6-90C5-36AF2A16627A}" destId="{7EE094B5-13D8-4D23-AD97-B4586572FD7E}" srcOrd="4" destOrd="0" presId="urn:microsoft.com/office/officeart/2005/8/layout/vProcess5"/>
    <dgm:cxn modelId="{D7432833-73B3-48CF-B689-852E3CFA7F3C}" type="presParOf" srcId="{4C3863EA-BD6F-4CE6-90C5-36AF2A16627A}" destId="{84AACDA1-A992-4814-A0F7-D5712004D270}" srcOrd="5" destOrd="0" presId="urn:microsoft.com/office/officeart/2005/8/layout/vProcess5"/>
    <dgm:cxn modelId="{A59E0BD6-DBC4-4524-8AF4-0CA9633D5EB3}" type="presParOf" srcId="{4C3863EA-BD6F-4CE6-90C5-36AF2A16627A}" destId="{D57C34F6-7A22-4D7B-BF49-FE1DCFEB095D}" srcOrd="6" destOrd="0" presId="urn:microsoft.com/office/officeart/2005/8/layout/vProcess5"/>
    <dgm:cxn modelId="{21D0C932-5866-48D9-A359-E7AC932B2D47}" type="presParOf" srcId="{4C3863EA-BD6F-4CE6-90C5-36AF2A16627A}" destId="{D8EE60F0-9673-459E-8155-E360D4386C18}" srcOrd="7" destOrd="0" presId="urn:microsoft.com/office/officeart/2005/8/layout/vProcess5"/>
    <dgm:cxn modelId="{A28000EB-C2BB-4694-89FA-C9995FBD57A7}" type="presParOf" srcId="{4C3863EA-BD6F-4CE6-90C5-36AF2A16627A}" destId="{495841DB-A8C0-4014-955C-207687759A6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6A5CE4-2BC6-41F1-AC96-905C16868885}" type="doc">
      <dgm:prSet loTypeId="urn:microsoft.com/office/officeart/2018/2/layout/IconCircleList" loCatId="icon" qsTypeId="urn:microsoft.com/office/officeart/2005/8/quickstyle/simple1#3" qsCatId="simple" csTypeId="urn:microsoft.com/office/officeart/2018/5/colors/Iconchunking_neutralicon_accent6_2" csCatId="accent6" phldr="1"/>
      <dgm:spPr/>
      <dgm:t>
        <a:bodyPr/>
        <a:lstStyle/>
        <a:p>
          <a:endParaRPr lang="en-US"/>
        </a:p>
      </dgm:t>
    </dgm:pt>
    <dgm:pt modelId="{12F1C50D-0ECF-491D-9E05-F2DD6BA46CD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800" b="1" dirty="0"/>
            <a:t>Filtrage Métier : </a:t>
          </a:r>
          <a:r>
            <a:rPr lang="fr-FR" sz="1800" dirty="0"/>
            <a:t>Sélection stricte du parc non-résidentiel.</a:t>
          </a:r>
          <a:endParaRPr lang="en-US" sz="1800" dirty="0"/>
        </a:p>
      </dgm:t>
    </dgm:pt>
    <dgm:pt modelId="{AA6D8FFE-D3BA-46D6-A2C5-71B414662882}" type="parTrans" cxnId="{C7EFABC8-C625-4313-A2D7-F4B3028C2CAC}">
      <dgm:prSet/>
      <dgm:spPr/>
      <dgm:t>
        <a:bodyPr/>
        <a:lstStyle/>
        <a:p>
          <a:endParaRPr lang="en-US"/>
        </a:p>
      </dgm:t>
    </dgm:pt>
    <dgm:pt modelId="{B652FEA4-2BCF-4780-BA94-6A2575EF844D}" type="sibTrans" cxnId="{C7EFABC8-C625-4313-A2D7-F4B3028C2CA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573AE68-D00E-40D4-8093-A671B0663B0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800" b="1" dirty="0"/>
            <a:t>Résultat : </a:t>
          </a:r>
          <a:r>
            <a:rPr lang="fr-FR" sz="1800" dirty="0"/>
            <a:t>1 558 bâtiments conservés (cohérent avec l'objectif de la ville).</a:t>
          </a:r>
          <a:endParaRPr lang="en-US" sz="1800" dirty="0"/>
        </a:p>
      </dgm:t>
    </dgm:pt>
    <dgm:pt modelId="{4AFB8D38-1FEA-4416-A940-28AF45417D7A}" type="parTrans" cxnId="{643780E4-BB40-429F-997D-AB15828A4321}">
      <dgm:prSet/>
      <dgm:spPr/>
      <dgm:t>
        <a:bodyPr/>
        <a:lstStyle/>
        <a:p>
          <a:endParaRPr lang="en-US"/>
        </a:p>
      </dgm:t>
    </dgm:pt>
    <dgm:pt modelId="{6FFB29BA-5C7C-494A-8419-48B29EBA734F}" type="sibTrans" cxnId="{643780E4-BB40-429F-997D-AB15828A432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E8A412A-1CDB-4284-907D-7B1D35D5382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800" b="1" dirty="0"/>
            <a:t>Cohérence Physique : </a:t>
          </a:r>
          <a:r>
            <a:rPr lang="fr-FR" sz="1800" dirty="0"/>
            <a:t>Suppression des enregistrements aberrants présentant des surfaces ou des consommations inferieur à 0. </a:t>
          </a:r>
          <a:endParaRPr lang="en-US" sz="1800" dirty="0"/>
        </a:p>
      </dgm:t>
    </dgm:pt>
    <dgm:pt modelId="{6F95D4F9-7A86-4ACB-9E03-A785669CDB82}" type="parTrans" cxnId="{3FF2200D-E6C8-49DE-9F70-8E6E4868556E}">
      <dgm:prSet/>
      <dgm:spPr/>
      <dgm:t>
        <a:bodyPr/>
        <a:lstStyle/>
        <a:p>
          <a:endParaRPr lang="en-US"/>
        </a:p>
      </dgm:t>
    </dgm:pt>
    <dgm:pt modelId="{CB608C70-F5D9-454B-A92B-4D7F786E95C8}" type="sibTrans" cxnId="{3FF2200D-E6C8-49DE-9F70-8E6E4868556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9465D5D-C88F-4F90-B027-3B3988199B5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800" b="1" dirty="0"/>
            <a:t>Diagnostic des </a:t>
          </a:r>
          <a:r>
            <a:rPr lang="fr-FR" sz="1800" b="1" dirty="0" err="1"/>
            <a:t>Outliers</a:t>
          </a:r>
          <a:r>
            <a:rPr lang="fr-FR" sz="1800" b="1" dirty="0"/>
            <a:t> (IQR) : </a:t>
          </a:r>
          <a:r>
            <a:rPr lang="fr-FR" sz="1800" dirty="0"/>
            <a:t>L'analyse de l'écart interquartile a révélé des valeurs extrêmes massives.</a:t>
          </a:r>
          <a:endParaRPr lang="en-US" sz="1800" dirty="0"/>
        </a:p>
      </dgm:t>
    </dgm:pt>
    <dgm:pt modelId="{C6526E8C-8AE8-4F23-86BA-BA42C5ECCBF3}" type="parTrans" cxnId="{91DF645C-06FC-4020-83EC-E71FB6BEE63A}">
      <dgm:prSet/>
      <dgm:spPr/>
      <dgm:t>
        <a:bodyPr/>
        <a:lstStyle/>
        <a:p>
          <a:endParaRPr lang="en-US"/>
        </a:p>
      </dgm:t>
    </dgm:pt>
    <dgm:pt modelId="{64EE1CAD-69D0-4A60-96F9-F15DE1FE6429}" type="sibTrans" cxnId="{91DF645C-06FC-4020-83EC-E71FB6BEE63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7A3DC45-5C46-4CB3-8DB3-E8913AA7B9B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800" b="1" dirty="0"/>
            <a:t>La Réponse Stratégique : </a:t>
          </a:r>
          <a:r>
            <a:rPr lang="fr-FR" sz="1800" dirty="0"/>
            <a:t>Utilisation de l'écart interquartile (</a:t>
          </a:r>
          <a:r>
            <a:rPr lang="fr-FR" sz="1800" b="1" dirty="0"/>
            <a:t>IQR</a:t>
          </a:r>
          <a:r>
            <a:rPr lang="fr-FR" sz="1800" dirty="0"/>
            <a:t>) pour diagnostiquer ces écarts et choix de la </a:t>
          </a:r>
          <a:r>
            <a:rPr lang="fr-FR" sz="1800" b="1" dirty="0"/>
            <a:t>transformation logarithmique</a:t>
          </a:r>
          <a:r>
            <a:rPr lang="fr-FR" sz="1800" dirty="0"/>
            <a:t> pour stabiliser les données.</a:t>
          </a:r>
          <a:endParaRPr lang="en-US" sz="1800" dirty="0"/>
        </a:p>
      </dgm:t>
    </dgm:pt>
    <dgm:pt modelId="{354FBB8D-B767-4CF7-922C-C180FDA71066}" type="parTrans" cxnId="{99DB8408-2617-459A-BF96-827D5B36752D}">
      <dgm:prSet/>
      <dgm:spPr/>
      <dgm:t>
        <a:bodyPr/>
        <a:lstStyle/>
        <a:p>
          <a:endParaRPr lang="en-US"/>
        </a:p>
      </dgm:t>
    </dgm:pt>
    <dgm:pt modelId="{E9D2AE5C-3989-4FE1-B48D-49F7BBBFA0BF}" type="sibTrans" cxnId="{99DB8408-2617-459A-BF96-827D5B36752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4C4184B-4B95-4D0D-A886-96F32EC8CA7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800" b="1" dirty="0"/>
            <a:t>Objectif : </a:t>
          </a:r>
          <a:r>
            <a:rPr lang="fr-FR" sz="1800" dirty="0"/>
            <a:t>Stabiliser la variance et ne pas perdre les données des plus grands bâtiments de Seattle.</a:t>
          </a:r>
          <a:endParaRPr lang="en-US" sz="1800" dirty="0"/>
        </a:p>
      </dgm:t>
    </dgm:pt>
    <dgm:pt modelId="{F6D596F3-F12C-42F7-A984-1F9BF20559D2}" type="parTrans" cxnId="{0999B9BF-48FB-4D0E-8AB4-A6449E320F25}">
      <dgm:prSet/>
      <dgm:spPr/>
      <dgm:t>
        <a:bodyPr/>
        <a:lstStyle/>
        <a:p>
          <a:endParaRPr lang="en-US"/>
        </a:p>
      </dgm:t>
    </dgm:pt>
    <dgm:pt modelId="{553FBB2A-1E51-41B7-964C-2F0ED9422DAE}" type="sibTrans" cxnId="{0999B9BF-48FB-4D0E-8AB4-A6449E320F25}">
      <dgm:prSet/>
      <dgm:spPr/>
      <dgm:t>
        <a:bodyPr/>
        <a:lstStyle/>
        <a:p>
          <a:endParaRPr lang="en-US"/>
        </a:p>
      </dgm:t>
    </dgm:pt>
    <dgm:pt modelId="{74AA1A54-DC84-4057-AF7E-941EE31F5F72}" type="pres">
      <dgm:prSet presAssocID="{CD6A5CE4-2BC6-41F1-AC96-905C16868885}" presName="root" presStyleCnt="0">
        <dgm:presLayoutVars>
          <dgm:dir/>
          <dgm:resizeHandles val="exact"/>
        </dgm:presLayoutVars>
      </dgm:prSet>
      <dgm:spPr/>
    </dgm:pt>
    <dgm:pt modelId="{A8934911-081F-4D9B-942E-6B38B58DCE3E}" type="pres">
      <dgm:prSet presAssocID="{CD6A5CE4-2BC6-41F1-AC96-905C16868885}" presName="container" presStyleCnt="0">
        <dgm:presLayoutVars>
          <dgm:dir/>
          <dgm:resizeHandles val="exact"/>
        </dgm:presLayoutVars>
      </dgm:prSet>
      <dgm:spPr/>
    </dgm:pt>
    <dgm:pt modelId="{7CE17133-F93F-4681-AB56-8C2123A0DAB5}" type="pres">
      <dgm:prSet presAssocID="{12F1C50D-0ECF-491D-9E05-F2DD6BA46CD5}" presName="compNode" presStyleCnt="0"/>
      <dgm:spPr/>
    </dgm:pt>
    <dgm:pt modelId="{F91A8873-48C0-4F0B-81DB-E01177A32880}" type="pres">
      <dgm:prSet presAssocID="{12F1C50D-0ECF-491D-9E05-F2DD6BA46CD5}" presName="iconBgRect" presStyleLbl="bgShp" presStyleIdx="0" presStyleCnt="6"/>
      <dgm:spPr/>
    </dgm:pt>
    <dgm:pt modelId="{A6ADBB1F-2073-472A-BD7B-EA51C2EF9B33}" type="pres">
      <dgm:prSet presAssocID="{12F1C50D-0ECF-491D-9E05-F2DD6BA46CD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E63B03E7-8A28-4E55-923F-46098545482B}" type="pres">
      <dgm:prSet presAssocID="{12F1C50D-0ECF-491D-9E05-F2DD6BA46CD5}" presName="spaceRect" presStyleCnt="0"/>
      <dgm:spPr/>
    </dgm:pt>
    <dgm:pt modelId="{D163E581-4EF3-4ECA-B430-694438EAB978}" type="pres">
      <dgm:prSet presAssocID="{12F1C50D-0ECF-491D-9E05-F2DD6BA46CD5}" presName="textRect" presStyleLbl="revTx" presStyleIdx="0" presStyleCnt="6">
        <dgm:presLayoutVars>
          <dgm:chMax val="1"/>
          <dgm:chPref val="1"/>
        </dgm:presLayoutVars>
      </dgm:prSet>
      <dgm:spPr/>
    </dgm:pt>
    <dgm:pt modelId="{58FC8B2F-EFFA-4EF9-98FE-7C7A1F1C45DB}" type="pres">
      <dgm:prSet presAssocID="{B652FEA4-2BCF-4780-BA94-6A2575EF844D}" presName="sibTrans" presStyleLbl="sibTrans2D1" presStyleIdx="0" presStyleCnt="0"/>
      <dgm:spPr/>
    </dgm:pt>
    <dgm:pt modelId="{E22326D7-02B2-449F-8AC7-E02DA9A71C88}" type="pres">
      <dgm:prSet presAssocID="{8573AE68-D00E-40D4-8093-A671B0663B04}" presName="compNode" presStyleCnt="0"/>
      <dgm:spPr/>
    </dgm:pt>
    <dgm:pt modelId="{02411AFF-02CB-435C-BE54-A75CA49A2239}" type="pres">
      <dgm:prSet presAssocID="{8573AE68-D00E-40D4-8093-A671B0663B04}" presName="iconBgRect" presStyleLbl="bgShp" presStyleIdx="1" presStyleCnt="6"/>
      <dgm:spPr/>
    </dgm:pt>
    <dgm:pt modelId="{E13031BB-5A23-4C9B-B660-638A2C288EF8}" type="pres">
      <dgm:prSet presAssocID="{8573AE68-D00E-40D4-8093-A671B0663B0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E05E5042-46F2-4729-A5A3-0B1D7CC3A4DE}" type="pres">
      <dgm:prSet presAssocID="{8573AE68-D00E-40D4-8093-A671B0663B04}" presName="spaceRect" presStyleCnt="0"/>
      <dgm:spPr/>
    </dgm:pt>
    <dgm:pt modelId="{28F34069-3DC6-4019-99D2-2F97B5E21509}" type="pres">
      <dgm:prSet presAssocID="{8573AE68-D00E-40D4-8093-A671B0663B04}" presName="textRect" presStyleLbl="revTx" presStyleIdx="1" presStyleCnt="6">
        <dgm:presLayoutVars>
          <dgm:chMax val="1"/>
          <dgm:chPref val="1"/>
        </dgm:presLayoutVars>
      </dgm:prSet>
      <dgm:spPr/>
    </dgm:pt>
    <dgm:pt modelId="{475D0FF8-45EB-4A38-B261-40D1D1B740E6}" type="pres">
      <dgm:prSet presAssocID="{6FFB29BA-5C7C-494A-8419-48B29EBA734F}" presName="sibTrans" presStyleLbl="sibTrans2D1" presStyleIdx="0" presStyleCnt="0"/>
      <dgm:spPr/>
    </dgm:pt>
    <dgm:pt modelId="{1C87C617-37FB-4871-A2C5-01410BED0475}" type="pres">
      <dgm:prSet presAssocID="{EE8A412A-1CDB-4284-907D-7B1D35D53824}" presName="compNode" presStyleCnt="0"/>
      <dgm:spPr/>
    </dgm:pt>
    <dgm:pt modelId="{4BFD185F-53F2-4A35-962F-3BF9FFDC9B57}" type="pres">
      <dgm:prSet presAssocID="{EE8A412A-1CDB-4284-907D-7B1D35D53824}" presName="iconBgRect" presStyleLbl="bgShp" presStyleIdx="2" presStyleCnt="6"/>
      <dgm:spPr/>
    </dgm:pt>
    <dgm:pt modelId="{6E916E5B-398E-44FF-89D2-66F62A826A5F}" type="pres">
      <dgm:prSet presAssocID="{EE8A412A-1CDB-4284-907D-7B1D35D5382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</dgm:pt>
    <dgm:pt modelId="{0175BDD8-705A-4BE3-AEB9-133715BDF1D3}" type="pres">
      <dgm:prSet presAssocID="{EE8A412A-1CDB-4284-907D-7B1D35D53824}" presName="spaceRect" presStyleCnt="0"/>
      <dgm:spPr/>
    </dgm:pt>
    <dgm:pt modelId="{A5EF3FA1-B7DD-407C-BB2E-39D116C31F24}" type="pres">
      <dgm:prSet presAssocID="{EE8A412A-1CDB-4284-907D-7B1D35D53824}" presName="textRect" presStyleLbl="revTx" presStyleIdx="2" presStyleCnt="6">
        <dgm:presLayoutVars>
          <dgm:chMax val="1"/>
          <dgm:chPref val="1"/>
        </dgm:presLayoutVars>
      </dgm:prSet>
      <dgm:spPr/>
    </dgm:pt>
    <dgm:pt modelId="{558F4204-8512-428E-84D5-48A002AAA5CF}" type="pres">
      <dgm:prSet presAssocID="{CB608C70-F5D9-454B-A92B-4D7F786E95C8}" presName="sibTrans" presStyleLbl="sibTrans2D1" presStyleIdx="0" presStyleCnt="0"/>
      <dgm:spPr/>
    </dgm:pt>
    <dgm:pt modelId="{F175AB63-5304-4B99-B837-F04949618946}" type="pres">
      <dgm:prSet presAssocID="{A9465D5D-C88F-4F90-B027-3B3988199B5C}" presName="compNode" presStyleCnt="0"/>
      <dgm:spPr/>
    </dgm:pt>
    <dgm:pt modelId="{03956D2A-9222-4AE0-9415-8EE240E3002D}" type="pres">
      <dgm:prSet presAssocID="{A9465D5D-C88F-4F90-B027-3B3988199B5C}" presName="iconBgRect" presStyleLbl="bgShp" presStyleIdx="3" presStyleCnt="6"/>
      <dgm:spPr/>
    </dgm:pt>
    <dgm:pt modelId="{B75A1260-AB71-4E28-BACB-22A3F27BD06E}" type="pres">
      <dgm:prSet presAssocID="{A9465D5D-C88F-4F90-B027-3B3988199B5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</dgm:pt>
    <dgm:pt modelId="{64A10A0B-55AD-4F43-94B1-8A4565892A45}" type="pres">
      <dgm:prSet presAssocID="{A9465D5D-C88F-4F90-B027-3B3988199B5C}" presName="spaceRect" presStyleCnt="0"/>
      <dgm:spPr/>
    </dgm:pt>
    <dgm:pt modelId="{9FE057BD-2449-4A8A-A00B-E61489FB773C}" type="pres">
      <dgm:prSet presAssocID="{A9465D5D-C88F-4F90-B027-3B3988199B5C}" presName="textRect" presStyleLbl="revTx" presStyleIdx="3" presStyleCnt="6">
        <dgm:presLayoutVars>
          <dgm:chMax val="1"/>
          <dgm:chPref val="1"/>
        </dgm:presLayoutVars>
      </dgm:prSet>
      <dgm:spPr/>
    </dgm:pt>
    <dgm:pt modelId="{41919D70-0006-416E-A886-7E335EB85CF5}" type="pres">
      <dgm:prSet presAssocID="{64EE1CAD-69D0-4A60-96F9-F15DE1FE6429}" presName="sibTrans" presStyleLbl="sibTrans2D1" presStyleIdx="0" presStyleCnt="0"/>
      <dgm:spPr/>
    </dgm:pt>
    <dgm:pt modelId="{1C56DFEA-4D4C-49F8-B49F-23FCAF07FCCF}" type="pres">
      <dgm:prSet presAssocID="{07A3DC45-5C46-4CB3-8DB3-E8913AA7B9B9}" presName="compNode" presStyleCnt="0"/>
      <dgm:spPr/>
    </dgm:pt>
    <dgm:pt modelId="{E9B3B7E1-6CB1-462A-A05F-E6DA35DB2BBB}" type="pres">
      <dgm:prSet presAssocID="{07A3DC45-5C46-4CB3-8DB3-E8913AA7B9B9}" presName="iconBgRect" presStyleLbl="bgShp" presStyleIdx="4" presStyleCnt="6"/>
      <dgm:spPr/>
    </dgm:pt>
    <dgm:pt modelId="{A2AA8E25-1903-4928-8089-5EA3AAC03A3E}" type="pres">
      <dgm:prSet presAssocID="{07A3DC45-5C46-4CB3-8DB3-E8913AA7B9B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</dgm:pt>
    <dgm:pt modelId="{ABE30E42-4D06-40F3-8BEF-A79EAFF39A43}" type="pres">
      <dgm:prSet presAssocID="{07A3DC45-5C46-4CB3-8DB3-E8913AA7B9B9}" presName="spaceRect" presStyleCnt="0"/>
      <dgm:spPr/>
    </dgm:pt>
    <dgm:pt modelId="{845115EB-7032-4F0E-90D7-48C689B9C073}" type="pres">
      <dgm:prSet presAssocID="{07A3DC45-5C46-4CB3-8DB3-E8913AA7B9B9}" presName="textRect" presStyleLbl="revTx" presStyleIdx="4" presStyleCnt="6">
        <dgm:presLayoutVars>
          <dgm:chMax val="1"/>
          <dgm:chPref val="1"/>
        </dgm:presLayoutVars>
      </dgm:prSet>
      <dgm:spPr/>
    </dgm:pt>
    <dgm:pt modelId="{AC25344B-53E9-4865-B7C7-CF91E8E168E5}" type="pres">
      <dgm:prSet presAssocID="{E9D2AE5C-3989-4FE1-B48D-49F7BBBFA0BF}" presName="sibTrans" presStyleLbl="sibTrans2D1" presStyleIdx="0" presStyleCnt="0"/>
      <dgm:spPr/>
    </dgm:pt>
    <dgm:pt modelId="{B0648944-D1A1-4E26-94D3-616B04D9DA3B}" type="pres">
      <dgm:prSet presAssocID="{04C4184B-4B95-4D0D-A886-96F32EC8CA7A}" presName="compNode" presStyleCnt="0"/>
      <dgm:spPr/>
    </dgm:pt>
    <dgm:pt modelId="{611C4FB6-71B5-4A1D-BBC6-7D2B4FE8747E}" type="pres">
      <dgm:prSet presAssocID="{04C4184B-4B95-4D0D-A886-96F32EC8CA7A}" presName="iconBgRect" presStyleLbl="bgShp" presStyleIdx="5" presStyleCnt="6"/>
      <dgm:spPr/>
    </dgm:pt>
    <dgm:pt modelId="{CB3D56D7-944D-4EBC-8492-F6A13DAB0662}" type="pres">
      <dgm:prSet presAssocID="{04C4184B-4B95-4D0D-A886-96F32EC8CA7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</dgm:pt>
    <dgm:pt modelId="{0CC7D499-9044-4CEA-8875-19B51FB32BD1}" type="pres">
      <dgm:prSet presAssocID="{04C4184B-4B95-4D0D-A886-96F32EC8CA7A}" presName="spaceRect" presStyleCnt="0"/>
      <dgm:spPr/>
    </dgm:pt>
    <dgm:pt modelId="{B8D05FAE-91FA-4216-BAE3-0F862D45089F}" type="pres">
      <dgm:prSet presAssocID="{04C4184B-4B95-4D0D-A886-96F32EC8CA7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B8D2B07-5837-4802-AF3D-0D3DAC479F11}" type="presOf" srcId="{CB608C70-F5D9-454B-A92B-4D7F786E95C8}" destId="{558F4204-8512-428E-84D5-48A002AAA5CF}" srcOrd="0" destOrd="0" presId="urn:microsoft.com/office/officeart/2018/2/layout/IconCircleList"/>
    <dgm:cxn modelId="{99DB8408-2617-459A-BF96-827D5B36752D}" srcId="{CD6A5CE4-2BC6-41F1-AC96-905C16868885}" destId="{07A3DC45-5C46-4CB3-8DB3-E8913AA7B9B9}" srcOrd="4" destOrd="0" parTransId="{354FBB8D-B767-4CF7-922C-C180FDA71066}" sibTransId="{E9D2AE5C-3989-4FE1-B48D-49F7BBBFA0BF}"/>
    <dgm:cxn modelId="{3FF2200D-E6C8-49DE-9F70-8E6E4868556E}" srcId="{CD6A5CE4-2BC6-41F1-AC96-905C16868885}" destId="{EE8A412A-1CDB-4284-907D-7B1D35D53824}" srcOrd="2" destOrd="0" parTransId="{6F95D4F9-7A86-4ACB-9E03-A785669CDB82}" sibTransId="{CB608C70-F5D9-454B-A92B-4D7F786E95C8}"/>
    <dgm:cxn modelId="{0123BE20-6416-42B6-9150-C210C8D03F6E}" type="presOf" srcId="{E9D2AE5C-3989-4FE1-B48D-49F7BBBFA0BF}" destId="{AC25344B-53E9-4865-B7C7-CF91E8E168E5}" srcOrd="0" destOrd="0" presId="urn:microsoft.com/office/officeart/2018/2/layout/IconCircleList"/>
    <dgm:cxn modelId="{DC28B52B-B987-4FB1-B459-D406835AD661}" type="presOf" srcId="{EE8A412A-1CDB-4284-907D-7B1D35D53824}" destId="{A5EF3FA1-B7DD-407C-BB2E-39D116C31F24}" srcOrd="0" destOrd="0" presId="urn:microsoft.com/office/officeart/2018/2/layout/IconCircleList"/>
    <dgm:cxn modelId="{91DF645C-06FC-4020-83EC-E71FB6BEE63A}" srcId="{CD6A5CE4-2BC6-41F1-AC96-905C16868885}" destId="{A9465D5D-C88F-4F90-B027-3B3988199B5C}" srcOrd="3" destOrd="0" parTransId="{C6526E8C-8AE8-4F23-86BA-BA42C5ECCBF3}" sibTransId="{64EE1CAD-69D0-4A60-96F9-F15DE1FE6429}"/>
    <dgm:cxn modelId="{4576714A-D113-4227-90B3-67C43C93C6AB}" type="presOf" srcId="{64EE1CAD-69D0-4A60-96F9-F15DE1FE6429}" destId="{41919D70-0006-416E-A886-7E335EB85CF5}" srcOrd="0" destOrd="0" presId="urn:microsoft.com/office/officeart/2018/2/layout/IconCircleList"/>
    <dgm:cxn modelId="{0873186F-ED6C-4A11-AB95-DD642253FE30}" type="presOf" srcId="{B652FEA4-2BCF-4780-BA94-6A2575EF844D}" destId="{58FC8B2F-EFFA-4EF9-98FE-7C7A1F1C45DB}" srcOrd="0" destOrd="0" presId="urn:microsoft.com/office/officeart/2018/2/layout/IconCircleList"/>
    <dgm:cxn modelId="{8F7A05A1-7FDE-40A0-ABF0-130AC29EF49E}" type="presOf" srcId="{04C4184B-4B95-4D0D-A886-96F32EC8CA7A}" destId="{B8D05FAE-91FA-4216-BAE3-0F862D45089F}" srcOrd="0" destOrd="0" presId="urn:microsoft.com/office/officeart/2018/2/layout/IconCircleList"/>
    <dgm:cxn modelId="{22FDF0A2-FF3F-453C-92F1-92F6CB8B2D9D}" type="presOf" srcId="{A9465D5D-C88F-4F90-B027-3B3988199B5C}" destId="{9FE057BD-2449-4A8A-A00B-E61489FB773C}" srcOrd="0" destOrd="0" presId="urn:microsoft.com/office/officeart/2018/2/layout/IconCircleList"/>
    <dgm:cxn modelId="{CF3511AA-15AA-4EB1-93B5-67D1BDC9041F}" type="presOf" srcId="{8573AE68-D00E-40D4-8093-A671B0663B04}" destId="{28F34069-3DC6-4019-99D2-2F97B5E21509}" srcOrd="0" destOrd="0" presId="urn:microsoft.com/office/officeart/2018/2/layout/IconCircleList"/>
    <dgm:cxn modelId="{9255A4AD-BE1B-4FCA-ADBD-853CFD1CFCF1}" type="presOf" srcId="{6FFB29BA-5C7C-494A-8419-48B29EBA734F}" destId="{475D0FF8-45EB-4A38-B261-40D1D1B740E6}" srcOrd="0" destOrd="0" presId="urn:microsoft.com/office/officeart/2018/2/layout/IconCircleList"/>
    <dgm:cxn modelId="{5B93B6BE-786E-4720-B358-69936EF36C8A}" type="presOf" srcId="{CD6A5CE4-2BC6-41F1-AC96-905C16868885}" destId="{74AA1A54-DC84-4057-AF7E-941EE31F5F72}" srcOrd="0" destOrd="0" presId="urn:microsoft.com/office/officeart/2018/2/layout/IconCircleList"/>
    <dgm:cxn modelId="{0999B9BF-48FB-4D0E-8AB4-A6449E320F25}" srcId="{CD6A5CE4-2BC6-41F1-AC96-905C16868885}" destId="{04C4184B-4B95-4D0D-A886-96F32EC8CA7A}" srcOrd="5" destOrd="0" parTransId="{F6D596F3-F12C-42F7-A984-1F9BF20559D2}" sibTransId="{553FBB2A-1E51-41B7-964C-2F0ED9422DAE}"/>
    <dgm:cxn modelId="{C7EFABC8-C625-4313-A2D7-F4B3028C2CAC}" srcId="{CD6A5CE4-2BC6-41F1-AC96-905C16868885}" destId="{12F1C50D-0ECF-491D-9E05-F2DD6BA46CD5}" srcOrd="0" destOrd="0" parTransId="{AA6D8FFE-D3BA-46D6-A2C5-71B414662882}" sibTransId="{B652FEA4-2BCF-4780-BA94-6A2575EF844D}"/>
    <dgm:cxn modelId="{643780E4-BB40-429F-997D-AB15828A4321}" srcId="{CD6A5CE4-2BC6-41F1-AC96-905C16868885}" destId="{8573AE68-D00E-40D4-8093-A671B0663B04}" srcOrd="1" destOrd="0" parTransId="{4AFB8D38-1FEA-4416-A940-28AF45417D7A}" sibTransId="{6FFB29BA-5C7C-494A-8419-48B29EBA734F}"/>
    <dgm:cxn modelId="{9F170AF7-0DFE-47AD-9115-EA0CB1ABE009}" type="presOf" srcId="{07A3DC45-5C46-4CB3-8DB3-E8913AA7B9B9}" destId="{845115EB-7032-4F0E-90D7-48C689B9C073}" srcOrd="0" destOrd="0" presId="urn:microsoft.com/office/officeart/2018/2/layout/IconCircleList"/>
    <dgm:cxn modelId="{BB077CFE-AA52-4A15-B82E-99FC1E0EF3CF}" type="presOf" srcId="{12F1C50D-0ECF-491D-9E05-F2DD6BA46CD5}" destId="{D163E581-4EF3-4ECA-B430-694438EAB978}" srcOrd="0" destOrd="0" presId="urn:microsoft.com/office/officeart/2018/2/layout/IconCircleList"/>
    <dgm:cxn modelId="{54601D4C-201D-449C-8B81-ED72AE842FD9}" type="presParOf" srcId="{74AA1A54-DC84-4057-AF7E-941EE31F5F72}" destId="{A8934911-081F-4D9B-942E-6B38B58DCE3E}" srcOrd="0" destOrd="0" presId="urn:microsoft.com/office/officeart/2018/2/layout/IconCircleList"/>
    <dgm:cxn modelId="{2F6D1AE1-7A1E-4822-9CC0-8DAFF9D42BFA}" type="presParOf" srcId="{A8934911-081F-4D9B-942E-6B38B58DCE3E}" destId="{7CE17133-F93F-4681-AB56-8C2123A0DAB5}" srcOrd="0" destOrd="0" presId="urn:microsoft.com/office/officeart/2018/2/layout/IconCircleList"/>
    <dgm:cxn modelId="{CE4F34A0-825C-4F30-AB82-16DDB3CEB57D}" type="presParOf" srcId="{7CE17133-F93F-4681-AB56-8C2123A0DAB5}" destId="{F91A8873-48C0-4F0B-81DB-E01177A32880}" srcOrd="0" destOrd="0" presId="urn:microsoft.com/office/officeart/2018/2/layout/IconCircleList"/>
    <dgm:cxn modelId="{15E639C4-B5FE-4571-A61C-2F2D28E18140}" type="presParOf" srcId="{7CE17133-F93F-4681-AB56-8C2123A0DAB5}" destId="{A6ADBB1F-2073-472A-BD7B-EA51C2EF9B33}" srcOrd="1" destOrd="0" presId="urn:microsoft.com/office/officeart/2018/2/layout/IconCircleList"/>
    <dgm:cxn modelId="{1405B60B-EAB6-4373-9D81-D66268D9FD2E}" type="presParOf" srcId="{7CE17133-F93F-4681-AB56-8C2123A0DAB5}" destId="{E63B03E7-8A28-4E55-923F-46098545482B}" srcOrd="2" destOrd="0" presId="urn:microsoft.com/office/officeart/2018/2/layout/IconCircleList"/>
    <dgm:cxn modelId="{2A695808-8B28-47CF-A9F0-2D3E03CA4D5D}" type="presParOf" srcId="{7CE17133-F93F-4681-AB56-8C2123A0DAB5}" destId="{D163E581-4EF3-4ECA-B430-694438EAB978}" srcOrd="3" destOrd="0" presId="urn:microsoft.com/office/officeart/2018/2/layout/IconCircleList"/>
    <dgm:cxn modelId="{95685C33-E509-433C-90B2-303441E24261}" type="presParOf" srcId="{A8934911-081F-4D9B-942E-6B38B58DCE3E}" destId="{58FC8B2F-EFFA-4EF9-98FE-7C7A1F1C45DB}" srcOrd="1" destOrd="0" presId="urn:microsoft.com/office/officeart/2018/2/layout/IconCircleList"/>
    <dgm:cxn modelId="{436D9CE9-F073-4431-A73F-64D91DC868A2}" type="presParOf" srcId="{A8934911-081F-4D9B-942E-6B38B58DCE3E}" destId="{E22326D7-02B2-449F-8AC7-E02DA9A71C88}" srcOrd="2" destOrd="0" presId="urn:microsoft.com/office/officeart/2018/2/layout/IconCircleList"/>
    <dgm:cxn modelId="{61AD2242-D302-451D-BDD4-9B9E576B7BBD}" type="presParOf" srcId="{E22326D7-02B2-449F-8AC7-E02DA9A71C88}" destId="{02411AFF-02CB-435C-BE54-A75CA49A2239}" srcOrd="0" destOrd="0" presId="urn:microsoft.com/office/officeart/2018/2/layout/IconCircleList"/>
    <dgm:cxn modelId="{C478F861-FB65-47D6-A5F5-C00FB6563D6D}" type="presParOf" srcId="{E22326D7-02B2-449F-8AC7-E02DA9A71C88}" destId="{E13031BB-5A23-4C9B-B660-638A2C288EF8}" srcOrd="1" destOrd="0" presId="urn:microsoft.com/office/officeart/2018/2/layout/IconCircleList"/>
    <dgm:cxn modelId="{F3CF4BC0-FEA5-4983-89A8-BD0DDCD97CC2}" type="presParOf" srcId="{E22326D7-02B2-449F-8AC7-E02DA9A71C88}" destId="{E05E5042-46F2-4729-A5A3-0B1D7CC3A4DE}" srcOrd="2" destOrd="0" presId="urn:microsoft.com/office/officeart/2018/2/layout/IconCircleList"/>
    <dgm:cxn modelId="{89EAE664-CA2C-48BB-8ABE-42908BBFD763}" type="presParOf" srcId="{E22326D7-02B2-449F-8AC7-E02DA9A71C88}" destId="{28F34069-3DC6-4019-99D2-2F97B5E21509}" srcOrd="3" destOrd="0" presId="urn:microsoft.com/office/officeart/2018/2/layout/IconCircleList"/>
    <dgm:cxn modelId="{9054CCD6-ED8D-4AB6-979B-D598E59859C3}" type="presParOf" srcId="{A8934911-081F-4D9B-942E-6B38B58DCE3E}" destId="{475D0FF8-45EB-4A38-B261-40D1D1B740E6}" srcOrd="3" destOrd="0" presId="urn:microsoft.com/office/officeart/2018/2/layout/IconCircleList"/>
    <dgm:cxn modelId="{B7D3A721-1738-41A8-AEAE-A3E6E21A80B1}" type="presParOf" srcId="{A8934911-081F-4D9B-942E-6B38B58DCE3E}" destId="{1C87C617-37FB-4871-A2C5-01410BED0475}" srcOrd="4" destOrd="0" presId="urn:microsoft.com/office/officeart/2018/2/layout/IconCircleList"/>
    <dgm:cxn modelId="{4AFADBBE-3F70-441C-8B9D-0C190CBDF3E5}" type="presParOf" srcId="{1C87C617-37FB-4871-A2C5-01410BED0475}" destId="{4BFD185F-53F2-4A35-962F-3BF9FFDC9B57}" srcOrd="0" destOrd="0" presId="urn:microsoft.com/office/officeart/2018/2/layout/IconCircleList"/>
    <dgm:cxn modelId="{2E4C1754-D535-4E31-B2A9-93974B6AD015}" type="presParOf" srcId="{1C87C617-37FB-4871-A2C5-01410BED0475}" destId="{6E916E5B-398E-44FF-89D2-66F62A826A5F}" srcOrd="1" destOrd="0" presId="urn:microsoft.com/office/officeart/2018/2/layout/IconCircleList"/>
    <dgm:cxn modelId="{36B0424C-6AFF-437F-A064-FD1881EA25DA}" type="presParOf" srcId="{1C87C617-37FB-4871-A2C5-01410BED0475}" destId="{0175BDD8-705A-4BE3-AEB9-133715BDF1D3}" srcOrd="2" destOrd="0" presId="urn:microsoft.com/office/officeart/2018/2/layout/IconCircleList"/>
    <dgm:cxn modelId="{DE40E22C-CC5A-4A17-B0E3-9B8BEFF7986B}" type="presParOf" srcId="{1C87C617-37FB-4871-A2C5-01410BED0475}" destId="{A5EF3FA1-B7DD-407C-BB2E-39D116C31F24}" srcOrd="3" destOrd="0" presId="urn:microsoft.com/office/officeart/2018/2/layout/IconCircleList"/>
    <dgm:cxn modelId="{C3265ABC-C6FB-43CB-8B55-B9C1526DEE0C}" type="presParOf" srcId="{A8934911-081F-4D9B-942E-6B38B58DCE3E}" destId="{558F4204-8512-428E-84D5-48A002AAA5CF}" srcOrd="5" destOrd="0" presId="urn:microsoft.com/office/officeart/2018/2/layout/IconCircleList"/>
    <dgm:cxn modelId="{12FAD934-7DF6-4731-A2B6-023C5F41CE50}" type="presParOf" srcId="{A8934911-081F-4D9B-942E-6B38B58DCE3E}" destId="{F175AB63-5304-4B99-B837-F04949618946}" srcOrd="6" destOrd="0" presId="urn:microsoft.com/office/officeart/2018/2/layout/IconCircleList"/>
    <dgm:cxn modelId="{DA4C4415-8B7F-48E3-96D8-11C5EC792855}" type="presParOf" srcId="{F175AB63-5304-4B99-B837-F04949618946}" destId="{03956D2A-9222-4AE0-9415-8EE240E3002D}" srcOrd="0" destOrd="0" presId="urn:microsoft.com/office/officeart/2018/2/layout/IconCircleList"/>
    <dgm:cxn modelId="{BC22F36D-B71F-4213-A650-53B458D91295}" type="presParOf" srcId="{F175AB63-5304-4B99-B837-F04949618946}" destId="{B75A1260-AB71-4E28-BACB-22A3F27BD06E}" srcOrd="1" destOrd="0" presId="urn:microsoft.com/office/officeart/2018/2/layout/IconCircleList"/>
    <dgm:cxn modelId="{15AE4C82-0362-4130-BAB4-E6FD037EBF15}" type="presParOf" srcId="{F175AB63-5304-4B99-B837-F04949618946}" destId="{64A10A0B-55AD-4F43-94B1-8A4565892A45}" srcOrd="2" destOrd="0" presId="urn:microsoft.com/office/officeart/2018/2/layout/IconCircleList"/>
    <dgm:cxn modelId="{CAABDC92-B0F1-46B6-B8A2-2D01055D3D7E}" type="presParOf" srcId="{F175AB63-5304-4B99-B837-F04949618946}" destId="{9FE057BD-2449-4A8A-A00B-E61489FB773C}" srcOrd="3" destOrd="0" presId="urn:microsoft.com/office/officeart/2018/2/layout/IconCircleList"/>
    <dgm:cxn modelId="{7592F909-AEBB-48CD-9D46-E2BD005564F3}" type="presParOf" srcId="{A8934911-081F-4D9B-942E-6B38B58DCE3E}" destId="{41919D70-0006-416E-A886-7E335EB85CF5}" srcOrd="7" destOrd="0" presId="urn:microsoft.com/office/officeart/2018/2/layout/IconCircleList"/>
    <dgm:cxn modelId="{75ABBB25-A011-4E27-8B45-5A6F3B49D766}" type="presParOf" srcId="{A8934911-081F-4D9B-942E-6B38B58DCE3E}" destId="{1C56DFEA-4D4C-49F8-B49F-23FCAF07FCCF}" srcOrd="8" destOrd="0" presId="urn:microsoft.com/office/officeart/2018/2/layout/IconCircleList"/>
    <dgm:cxn modelId="{9F662D48-2AC7-4166-8173-7F9B839D73F5}" type="presParOf" srcId="{1C56DFEA-4D4C-49F8-B49F-23FCAF07FCCF}" destId="{E9B3B7E1-6CB1-462A-A05F-E6DA35DB2BBB}" srcOrd="0" destOrd="0" presId="urn:microsoft.com/office/officeart/2018/2/layout/IconCircleList"/>
    <dgm:cxn modelId="{C615D53C-C0F9-4625-A8C5-BC0BA30EADA1}" type="presParOf" srcId="{1C56DFEA-4D4C-49F8-B49F-23FCAF07FCCF}" destId="{A2AA8E25-1903-4928-8089-5EA3AAC03A3E}" srcOrd="1" destOrd="0" presId="urn:microsoft.com/office/officeart/2018/2/layout/IconCircleList"/>
    <dgm:cxn modelId="{8F31A540-300D-42F7-B844-F8A4B05BBB82}" type="presParOf" srcId="{1C56DFEA-4D4C-49F8-B49F-23FCAF07FCCF}" destId="{ABE30E42-4D06-40F3-8BEF-A79EAFF39A43}" srcOrd="2" destOrd="0" presId="urn:microsoft.com/office/officeart/2018/2/layout/IconCircleList"/>
    <dgm:cxn modelId="{7D8D9C51-CAE0-42A9-BA56-BA8E85372FED}" type="presParOf" srcId="{1C56DFEA-4D4C-49F8-B49F-23FCAF07FCCF}" destId="{845115EB-7032-4F0E-90D7-48C689B9C073}" srcOrd="3" destOrd="0" presId="urn:microsoft.com/office/officeart/2018/2/layout/IconCircleList"/>
    <dgm:cxn modelId="{11DF0652-59D0-42F0-AA8C-A8DE51ECE352}" type="presParOf" srcId="{A8934911-081F-4D9B-942E-6B38B58DCE3E}" destId="{AC25344B-53E9-4865-B7C7-CF91E8E168E5}" srcOrd="9" destOrd="0" presId="urn:microsoft.com/office/officeart/2018/2/layout/IconCircleList"/>
    <dgm:cxn modelId="{16585AFA-4EE5-4BDE-BDF1-B51BC268D68D}" type="presParOf" srcId="{A8934911-081F-4D9B-942E-6B38B58DCE3E}" destId="{B0648944-D1A1-4E26-94D3-616B04D9DA3B}" srcOrd="10" destOrd="0" presId="urn:microsoft.com/office/officeart/2018/2/layout/IconCircleList"/>
    <dgm:cxn modelId="{999B0C20-51D1-4F3D-923A-7ACF3F76B202}" type="presParOf" srcId="{B0648944-D1A1-4E26-94D3-616B04D9DA3B}" destId="{611C4FB6-71B5-4A1D-BBC6-7D2B4FE8747E}" srcOrd="0" destOrd="0" presId="urn:microsoft.com/office/officeart/2018/2/layout/IconCircleList"/>
    <dgm:cxn modelId="{43769BC1-89BC-45FF-94E7-6453B99656DA}" type="presParOf" srcId="{B0648944-D1A1-4E26-94D3-616B04D9DA3B}" destId="{CB3D56D7-944D-4EBC-8492-F6A13DAB0662}" srcOrd="1" destOrd="0" presId="urn:microsoft.com/office/officeart/2018/2/layout/IconCircleList"/>
    <dgm:cxn modelId="{682DCC8E-5A31-45B9-85AD-BE419F2A68C0}" type="presParOf" srcId="{B0648944-D1A1-4E26-94D3-616B04D9DA3B}" destId="{0CC7D499-9044-4CEA-8875-19B51FB32BD1}" srcOrd="2" destOrd="0" presId="urn:microsoft.com/office/officeart/2018/2/layout/IconCircleList"/>
    <dgm:cxn modelId="{4B67A3DA-6EA1-4B1C-9871-7A70FEF1F952}" type="presParOf" srcId="{B0648944-D1A1-4E26-94D3-616B04D9DA3B}" destId="{B8D05FAE-91FA-4216-BAE3-0F862D45089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9EE8247-4C77-4899-B5C9-7E198055C9CF}" type="doc">
      <dgm:prSet loTypeId="urn:microsoft.com/office/officeart/2018/2/layout/IconVerticalSolidList" loCatId="icon" qsTypeId="urn:microsoft.com/office/officeart/2005/8/quickstyle/simple1#4" qsCatId="simple" csTypeId="urn:microsoft.com/office/officeart/2005/8/colors/accent1_4#1" csCatId="accent1" phldr="1"/>
      <dgm:spPr/>
      <dgm:t>
        <a:bodyPr/>
        <a:lstStyle/>
        <a:p>
          <a:endParaRPr lang="en-US"/>
        </a:p>
      </dgm:t>
    </dgm:pt>
    <dgm:pt modelId="{37D3F7B4-D36E-4CCF-B76A-6F02B45F4AB7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dirty="0"/>
            <a:t>Gestion Automatisée des Lacunes  : </a:t>
          </a:r>
          <a:r>
            <a:rPr lang="fr-FR" dirty="0"/>
            <a:t>Au lieu de supprimer des lignes et perdre de l'information, le pipeline remplace les valeurs manquantes par la médiane. C'est une stratégie robuste face aux valeurs extrêmes.</a:t>
          </a:r>
          <a:endParaRPr lang="en-US" dirty="0"/>
        </a:p>
      </dgm:t>
    </dgm:pt>
    <dgm:pt modelId="{3F59539F-0EC2-4110-9D23-0FA684F46A2F}" type="parTrans" cxnId="{865C6BA4-642F-4580-AF1B-1AF877CAE573}">
      <dgm:prSet/>
      <dgm:spPr/>
      <dgm:t>
        <a:bodyPr/>
        <a:lstStyle/>
        <a:p>
          <a:endParaRPr lang="en-US"/>
        </a:p>
      </dgm:t>
    </dgm:pt>
    <dgm:pt modelId="{0E7489DD-C812-4925-87F7-B2B7B76371BB}" type="sibTrans" cxnId="{865C6BA4-642F-4580-AF1B-1AF877CAE573}">
      <dgm:prSet/>
      <dgm:spPr/>
      <dgm:t>
        <a:bodyPr/>
        <a:lstStyle/>
        <a:p>
          <a:endParaRPr lang="en-US"/>
        </a:p>
      </dgm:t>
    </dgm:pt>
    <dgm:pt modelId="{32455580-0F08-4C55-86FF-63F7A88E5E53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dirty="0"/>
            <a:t>Encodage Catégoriel : </a:t>
          </a:r>
          <a:r>
            <a:rPr lang="fr-FR" dirty="0"/>
            <a:t>Les ordinateurs ne lisent pas le texte. Le </a:t>
          </a:r>
          <a:r>
            <a:rPr lang="fr-FR" dirty="0" err="1"/>
            <a:t>OneHotEncoder</a:t>
          </a:r>
          <a:r>
            <a:rPr lang="fr-FR" dirty="0"/>
            <a:t> traduit les types d'usages (Bureaux, Entrepôts) en langage binaire sans créer de hiérarchie artificielle.</a:t>
          </a:r>
          <a:endParaRPr lang="en-US" dirty="0"/>
        </a:p>
      </dgm:t>
    </dgm:pt>
    <dgm:pt modelId="{84B12214-DD0A-461A-B897-6AFEE5743446}" type="parTrans" cxnId="{F6F09054-C9BD-4D7A-926C-3B2C2516EE0A}">
      <dgm:prSet/>
      <dgm:spPr/>
      <dgm:t>
        <a:bodyPr/>
        <a:lstStyle/>
        <a:p>
          <a:endParaRPr lang="en-US"/>
        </a:p>
      </dgm:t>
    </dgm:pt>
    <dgm:pt modelId="{3AF133F9-CBA8-4F3F-8A5B-F046EC9E3491}" type="sibTrans" cxnId="{F6F09054-C9BD-4D7A-926C-3B2C2516EE0A}">
      <dgm:prSet/>
      <dgm:spPr/>
      <dgm:t>
        <a:bodyPr/>
        <a:lstStyle/>
        <a:p>
          <a:endParaRPr lang="en-US"/>
        </a:p>
      </dgm:t>
    </dgm:pt>
    <dgm:pt modelId="{3E6BD2BD-D252-4B74-A5D7-8C5E2AF7CDC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/>
            <a:t>Standardisation : </a:t>
          </a:r>
          <a:r>
            <a:rPr lang="fr-FR"/>
            <a:t>La surface et l'âge n'ont pas les mêmes unités. Le StandardScaler les ramène à une échelle commune pour éviter que les "grands chiffres" n'écrasent les variables plus petites mais tout aussi cruciales.</a:t>
          </a:r>
          <a:endParaRPr lang="en-US"/>
        </a:p>
      </dgm:t>
    </dgm:pt>
    <dgm:pt modelId="{D9F6298F-1545-4597-A017-DFBD020CFC81}" type="parTrans" cxnId="{C4679467-2C24-4C6B-8F3B-F7F052682C60}">
      <dgm:prSet/>
      <dgm:spPr/>
      <dgm:t>
        <a:bodyPr/>
        <a:lstStyle/>
        <a:p>
          <a:endParaRPr lang="en-US"/>
        </a:p>
      </dgm:t>
    </dgm:pt>
    <dgm:pt modelId="{F51DBF9C-635A-4E14-8676-7AEC897F08B2}" type="sibTrans" cxnId="{C4679467-2C24-4C6B-8F3B-F7F052682C60}">
      <dgm:prSet/>
      <dgm:spPr/>
      <dgm:t>
        <a:bodyPr/>
        <a:lstStyle/>
        <a:p>
          <a:endParaRPr lang="en-US"/>
        </a:p>
      </dgm:t>
    </dgm:pt>
    <dgm:pt modelId="{12CEF7C1-C951-42F1-B015-6F69D9BD7906}" type="pres">
      <dgm:prSet presAssocID="{F9EE8247-4C77-4899-B5C9-7E198055C9CF}" presName="root" presStyleCnt="0">
        <dgm:presLayoutVars>
          <dgm:dir/>
          <dgm:resizeHandles val="exact"/>
        </dgm:presLayoutVars>
      </dgm:prSet>
      <dgm:spPr/>
    </dgm:pt>
    <dgm:pt modelId="{152EFFB0-9952-47A8-BCC0-4B0A9B1FF035}" type="pres">
      <dgm:prSet presAssocID="{37D3F7B4-D36E-4CCF-B76A-6F02B45F4AB7}" presName="compNode" presStyleCnt="0"/>
      <dgm:spPr/>
    </dgm:pt>
    <dgm:pt modelId="{B4935165-03A3-4F19-8DD6-DB2363054841}" type="pres">
      <dgm:prSet presAssocID="{37D3F7B4-D36E-4CCF-B76A-6F02B45F4AB7}" presName="bgRect" presStyleLbl="bgShp" presStyleIdx="0" presStyleCnt="3"/>
      <dgm:spPr/>
    </dgm:pt>
    <dgm:pt modelId="{CB91A3BB-B3C6-4E23-8725-E89E87A6DBD5}" type="pres">
      <dgm:prSet presAssocID="{37D3F7B4-D36E-4CCF-B76A-6F02B45F4A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417F8FDB-8673-4B83-848B-2247987C5D05}" type="pres">
      <dgm:prSet presAssocID="{37D3F7B4-D36E-4CCF-B76A-6F02B45F4AB7}" presName="spaceRect" presStyleCnt="0"/>
      <dgm:spPr/>
    </dgm:pt>
    <dgm:pt modelId="{05A2AB44-56A8-4A13-B8A0-294F1491965B}" type="pres">
      <dgm:prSet presAssocID="{37D3F7B4-D36E-4CCF-B76A-6F02B45F4AB7}" presName="parTx" presStyleLbl="revTx" presStyleIdx="0" presStyleCnt="3">
        <dgm:presLayoutVars>
          <dgm:chMax val="0"/>
          <dgm:chPref val="0"/>
        </dgm:presLayoutVars>
      </dgm:prSet>
      <dgm:spPr/>
    </dgm:pt>
    <dgm:pt modelId="{38F9B2CA-8A94-4BA2-ACA0-AF128D233045}" type="pres">
      <dgm:prSet presAssocID="{0E7489DD-C812-4925-87F7-B2B7B76371BB}" presName="sibTrans" presStyleCnt="0"/>
      <dgm:spPr/>
    </dgm:pt>
    <dgm:pt modelId="{5A56588A-8F76-4C7C-87C1-F3041FAEAE07}" type="pres">
      <dgm:prSet presAssocID="{32455580-0F08-4C55-86FF-63F7A88E5E53}" presName="compNode" presStyleCnt="0"/>
      <dgm:spPr/>
    </dgm:pt>
    <dgm:pt modelId="{662BE22C-E7BD-49E3-B13C-9D324BD0A0E5}" type="pres">
      <dgm:prSet presAssocID="{32455580-0F08-4C55-86FF-63F7A88E5E53}" presName="bgRect" presStyleLbl="bgShp" presStyleIdx="1" presStyleCnt="3"/>
      <dgm:spPr/>
    </dgm:pt>
    <dgm:pt modelId="{4260D134-D6C4-4F77-BBCE-60D2176114C5}" type="pres">
      <dgm:prSet presAssocID="{32455580-0F08-4C55-86FF-63F7A88E5E5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</dgm:pt>
    <dgm:pt modelId="{7E45A0BC-1212-4245-B1FF-2F6E45386145}" type="pres">
      <dgm:prSet presAssocID="{32455580-0F08-4C55-86FF-63F7A88E5E53}" presName="spaceRect" presStyleCnt="0"/>
      <dgm:spPr/>
    </dgm:pt>
    <dgm:pt modelId="{4F91DE18-A54B-4D30-A52A-AAF419F04186}" type="pres">
      <dgm:prSet presAssocID="{32455580-0F08-4C55-86FF-63F7A88E5E53}" presName="parTx" presStyleLbl="revTx" presStyleIdx="1" presStyleCnt="3">
        <dgm:presLayoutVars>
          <dgm:chMax val="0"/>
          <dgm:chPref val="0"/>
        </dgm:presLayoutVars>
      </dgm:prSet>
      <dgm:spPr/>
    </dgm:pt>
    <dgm:pt modelId="{5658365C-DCC9-4CF4-A76A-9732455B326C}" type="pres">
      <dgm:prSet presAssocID="{3AF133F9-CBA8-4F3F-8A5B-F046EC9E3491}" presName="sibTrans" presStyleCnt="0"/>
      <dgm:spPr/>
    </dgm:pt>
    <dgm:pt modelId="{2FB42A2B-1CBF-4F0F-951C-DFAD55B8E355}" type="pres">
      <dgm:prSet presAssocID="{3E6BD2BD-D252-4B74-A5D7-8C5E2AF7CDCA}" presName="compNode" presStyleCnt="0"/>
      <dgm:spPr/>
    </dgm:pt>
    <dgm:pt modelId="{919950ED-F174-44B5-9173-0052C195B565}" type="pres">
      <dgm:prSet presAssocID="{3E6BD2BD-D252-4B74-A5D7-8C5E2AF7CDCA}" presName="bgRect" presStyleLbl="bgShp" presStyleIdx="2" presStyleCnt="3"/>
      <dgm:spPr/>
    </dgm:pt>
    <dgm:pt modelId="{69753C9E-2437-4A66-97E9-1E0E4766304E}" type="pres">
      <dgm:prSet presAssocID="{3E6BD2BD-D252-4B74-A5D7-8C5E2AF7CDC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</dgm:pt>
    <dgm:pt modelId="{A4441979-ED77-4473-A041-A46224CD9C73}" type="pres">
      <dgm:prSet presAssocID="{3E6BD2BD-D252-4B74-A5D7-8C5E2AF7CDCA}" presName="spaceRect" presStyleCnt="0"/>
      <dgm:spPr/>
    </dgm:pt>
    <dgm:pt modelId="{072F3E8A-8C25-416C-B9C8-9CB1D0DBB014}" type="pres">
      <dgm:prSet presAssocID="{3E6BD2BD-D252-4B74-A5D7-8C5E2AF7CDC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C61240F-3CF8-4D28-839F-CBF3CB7322B7}" type="presOf" srcId="{32455580-0F08-4C55-86FF-63F7A88E5E53}" destId="{4F91DE18-A54B-4D30-A52A-AAF419F04186}" srcOrd="0" destOrd="0" presId="urn:microsoft.com/office/officeart/2018/2/layout/IconVerticalSolidList"/>
    <dgm:cxn modelId="{C4679467-2C24-4C6B-8F3B-F7F052682C60}" srcId="{F9EE8247-4C77-4899-B5C9-7E198055C9CF}" destId="{3E6BD2BD-D252-4B74-A5D7-8C5E2AF7CDCA}" srcOrd="2" destOrd="0" parTransId="{D9F6298F-1545-4597-A017-DFBD020CFC81}" sibTransId="{F51DBF9C-635A-4E14-8676-7AEC897F08B2}"/>
    <dgm:cxn modelId="{F82D194F-A54D-4252-8343-3C99279E7D54}" type="presOf" srcId="{F9EE8247-4C77-4899-B5C9-7E198055C9CF}" destId="{12CEF7C1-C951-42F1-B015-6F69D9BD7906}" srcOrd="0" destOrd="0" presId="urn:microsoft.com/office/officeart/2018/2/layout/IconVerticalSolidList"/>
    <dgm:cxn modelId="{F6F09054-C9BD-4D7A-926C-3B2C2516EE0A}" srcId="{F9EE8247-4C77-4899-B5C9-7E198055C9CF}" destId="{32455580-0F08-4C55-86FF-63F7A88E5E53}" srcOrd="1" destOrd="0" parTransId="{84B12214-DD0A-461A-B897-6AFEE5743446}" sibTransId="{3AF133F9-CBA8-4F3F-8A5B-F046EC9E3491}"/>
    <dgm:cxn modelId="{57AC4A8A-BFB1-44CD-ADD1-02D57AC16412}" type="presOf" srcId="{37D3F7B4-D36E-4CCF-B76A-6F02B45F4AB7}" destId="{05A2AB44-56A8-4A13-B8A0-294F1491965B}" srcOrd="0" destOrd="0" presId="urn:microsoft.com/office/officeart/2018/2/layout/IconVerticalSolidList"/>
    <dgm:cxn modelId="{865C6BA4-642F-4580-AF1B-1AF877CAE573}" srcId="{F9EE8247-4C77-4899-B5C9-7E198055C9CF}" destId="{37D3F7B4-D36E-4CCF-B76A-6F02B45F4AB7}" srcOrd="0" destOrd="0" parTransId="{3F59539F-0EC2-4110-9D23-0FA684F46A2F}" sibTransId="{0E7489DD-C812-4925-87F7-B2B7B76371BB}"/>
    <dgm:cxn modelId="{C08F85A8-360B-47BA-AE4A-74883869BDEB}" type="presOf" srcId="{3E6BD2BD-D252-4B74-A5D7-8C5E2AF7CDCA}" destId="{072F3E8A-8C25-416C-B9C8-9CB1D0DBB014}" srcOrd="0" destOrd="0" presId="urn:microsoft.com/office/officeart/2018/2/layout/IconVerticalSolidList"/>
    <dgm:cxn modelId="{4412BA49-ED0E-40F2-A06E-22774651D1CC}" type="presParOf" srcId="{12CEF7C1-C951-42F1-B015-6F69D9BD7906}" destId="{152EFFB0-9952-47A8-BCC0-4B0A9B1FF035}" srcOrd="0" destOrd="0" presId="urn:microsoft.com/office/officeart/2018/2/layout/IconVerticalSolidList"/>
    <dgm:cxn modelId="{3BAC400C-1DF6-4BEC-A5F6-301960665FB2}" type="presParOf" srcId="{152EFFB0-9952-47A8-BCC0-4B0A9B1FF035}" destId="{B4935165-03A3-4F19-8DD6-DB2363054841}" srcOrd="0" destOrd="0" presId="urn:microsoft.com/office/officeart/2018/2/layout/IconVerticalSolidList"/>
    <dgm:cxn modelId="{B19D01B7-D72E-4F3A-B56A-FD0FC17685EC}" type="presParOf" srcId="{152EFFB0-9952-47A8-BCC0-4B0A9B1FF035}" destId="{CB91A3BB-B3C6-4E23-8725-E89E87A6DBD5}" srcOrd="1" destOrd="0" presId="urn:microsoft.com/office/officeart/2018/2/layout/IconVerticalSolidList"/>
    <dgm:cxn modelId="{AEA4F087-5C72-4336-967C-CFD46C15DE40}" type="presParOf" srcId="{152EFFB0-9952-47A8-BCC0-4B0A9B1FF035}" destId="{417F8FDB-8673-4B83-848B-2247987C5D05}" srcOrd="2" destOrd="0" presId="urn:microsoft.com/office/officeart/2018/2/layout/IconVerticalSolidList"/>
    <dgm:cxn modelId="{600C8675-5DEA-4AC2-B546-2FE6F3FDB596}" type="presParOf" srcId="{152EFFB0-9952-47A8-BCC0-4B0A9B1FF035}" destId="{05A2AB44-56A8-4A13-B8A0-294F1491965B}" srcOrd="3" destOrd="0" presId="urn:microsoft.com/office/officeart/2018/2/layout/IconVerticalSolidList"/>
    <dgm:cxn modelId="{B9A3035D-547B-4572-85EE-4F91E0B8A7B0}" type="presParOf" srcId="{12CEF7C1-C951-42F1-B015-6F69D9BD7906}" destId="{38F9B2CA-8A94-4BA2-ACA0-AF128D233045}" srcOrd="1" destOrd="0" presId="urn:microsoft.com/office/officeart/2018/2/layout/IconVerticalSolidList"/>
    <dgm:cxn modelId="{ECAA5098-35C8-4F6D-B424-A47C9DB51AD8}" type="presParOf" srcId="{12CEF7C1-C951-42F1-B015-6F69D9BD7906}" destId="{5A56588A-8F76-4C7C-87C1-F3041FAEAE07}" srcOrd="2" destOrd="0" presId="urn:microsoft.com/office/officeart/2018/2/layout/IconVerticalSolidList"/>
    <dgm:cxn modelId="{4B013894-01E7-4999-B546-D6D0D753EA27}" type="presParOf" srcId="{5A56588A-8F76-4C7C-87C1-F3041FAEAE07}" destId="{662BE22C-E7BD-49E3-B13C-9D324BD0A0E5}" srcOrd="0" destOrd="0" presId="urn:microsoft.com/office/officeart/2018/2/layout/IconVerticalSolidList"/>
    <dgm:cxn modelId="{2D12B4E3-E9F4-4EEE-B25C-60D8D7B95CF9}" type="presParOf" srcId="{5A56588A-8F76-4C7C-87C1-F3041FAEAE07}" destId="{4260D134-D6C4-4F77-BBCE-60D2176114C5}" srcOrd="1" destOrd="0" presId="urn:microsoft.com/office/officeart/2018/2/layout/IconVerticalSolidList"/>
    <dgm:cxn modelId="{FD8E20D3-AFB8-42E3-8EBA-1EAD3A5229AA}" type="presParOf" srcId="{5A56588A-8F76-4C7C-87C1-F3041FAEAE07}" destId="{7E45A0BC-1212-4245-B1FF-2F6E45386145}" srcOrd="2" destOrd="0" presId="urn:microsoft.com/office/officeart/2018/2/layout/IconVerticalSolidList"/>
    <dgm:cxn modelId="{74FFBAA7-B14E-42C4-80F0-37B1EBBBE8DA}" type="presParOf" srcId="{5A56588A-8F76-4C7C-87C1-F3041FAEAE07}" destId="{4F91DE18-A54B-4D30-A52A-AAF419F04186}" srcOrd="3" destOrd="0" presId="urn:microsoft.com/office/officeart/2018/2/layout/IconVerticalSolidList"/>
    <dgm:cxn modelId="{26993D93-E80C-4A10-B78C-DA2C469ADD7A}" type="presParOf" srcId="{12CEF7C1-C951-42F1-B015-6F69D9BD7906}" destId="{5658365C-DCC9-4CF4-A76A-9732455B326C}" srcOrd="3" destOrd="0" presId="urn:microsoft.com/office/officeart/2018/2/layout/IconVerticalSolidList"/>
    <dgm:cxn modelId="{18B44DEB-2CC0-4E96-9E60-5B94E982D693}" type="presParOf" srcId="{12CEF7C1-C951-42F1-B015-6F69D9BD7906}" destId="{2FB42A2B-1CBF-4F0F-951C-DFAD55B8E355}" srcOrd="4" destOrd="0" presId="urn:microsoft.com/office/officeart/2018/2/layout/IconVerticalSolidList"/>
    <dgm:cxn modelId="{C1535E51-279C-4A26-829F-0177E0F7BD1C}" type="presParOf" srcId="{2FB42A2B-1CBF-4F0F-951C-DFAD55B8E355}" destId="{919950ED-F174-44B5-9173-0052C195B565}" srcOrd="0" destOrd="0" presId="urn:microsoft.com/office/officeart/2018/2/layout/IconVerticalSolidList"/>
    <dgm:cxn modelId="{6FDFF259-D4F3-49D0-9D6D-60757D14D38D}" type="presParOf" srcId="{2FB42A2B-1CBF-4F0F-951C-DFAD55B8E355}" destId="{69753C9E-2437-4A66-97E9-1E0E4766304E}" srcOrd="1" destOrd="0" presId="urn:microsoft.com/office/officeart/2018/2/layout/IconVerticalSolidList"/>
    <dgm:cxn modelId="{9C63921C-6051-4D82-9458-F718E9889230}" type="presParOf" srcId="{2FB42A2B-1CBF-4F0F-951C-DFAD55B8E355}" destId="{A4441979-ED77-4473-A041-A46224CD9C73}" srcOrd="2" destOrd="0" presId="urn:microsoft.com/office/officeart/2018/2/layout/IconVerticalSolidList"/>
    <dgm:cxn modelId="{5FD8B5E0-CC42-4926-9051-52EE4172349B}" type="presParOf" srcId="{2FB42A2B-1CBF-4F0F-951C-DFAD55B8E355}" destId="{072F3E8A-8C25-416C-B9C8-9CB1D0DBB0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484005-113A-4A81-92F6-62C5EA8217FD}" type="doc">
      <dgm:prSet loTypeId="urn:microsoft.com/office/officeart/2018/2/layout/IconVerticalSolidList" loCatId="icon" qsTypeId="urn:microsoft.com/office/officeart/2005/8/quickstyle/simple1#5" qsCatId="simple" csTypeId="urn:microsoft.com/office/officeart/2005/8/colors/accent1_4#2" csCatId="accent1" phldr="1"/>
      <dgm:spPr/>
      <dgm:t>
        <a:bodyPr/>
        <a:lstStyle/>
        <a:p>
          <a:endParaRPr lang="en-US"/>
        </a:p>
      </dgm:t>
    </dgm:pt>
    <dgm:pt modelId="{56448DB3-6788-4E88-B6BC-A0055EDCDE40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fr-FR" dirty="0"/>
            <a:t>Supériorité du </a:t>
          </a:r>
          <a:r>
            <a:rPr lang="fr-FR" dirty="0" err="1"/>
            <a:t>Random</a:t>
          </a:r>
          <a:r>
            <a:rPr lang="fr-FR" dirty="0"/>
            <a:t> Forest : il surpasse la régression linéaire car il capture des variations non-linéaires que les modèles simples ignorent. La consommation de Seattle ne dépend pas seulement de la taille du bâtiment, mais de l'interaction complexe entre la surface, l'usage et l'âge. Le </a:t>
          </a:r>
          <a:r>
            <a:rPr lang="fr-FR" dirty="0" err="1"/>
            <a:t>Random</a:t>
          </a:r>
          <a:r>
            <a:rPr lang="fr-FR" dirty="0"/>
            <a:t> Forest modélise ces interactions, là où la régression linéaire échoue. </a:t>
          </a:r>
          <a:endParaRPr lang="en-US" dirty="0"/>
        </a:p>
      </dgm:t>
    </dgm:pt>
    <dgm:pt modelId="{6C65F662-21B8-46C3-93E7-BE38F226C957}" type="parTrans" cxnId="{BBF4C521-07EB-4664-A269-7F658C15D72D}">
      <dgm:prSet/>
      <dgm:spPr/>
      <dgm:t>
        <a:bodyPr/>
        <a:lstStyle/>
        <a:p>
          <a:endParaRPr lang="en-US"/>
        </a:p>
      </dgm:t>
    </dgm:pt>
    <dgm:pt modelId="{AEC36258-AB5B-4D14-BFF5-2D05BF978457}" type="sibTrans" cxnId="{BBF4C521-07EB-4664-A269-7F658C15D72D}">
      <dgm:prSet/>
      <dgm:spPr/>
      <dgm:t>
        <a:bodyPr/>
        <a:lstStyle/>
        <a:p>
          <a:endParaRPr lang="en-US"/>
        </a:p>
      </dgm:t>
    </dgm:pt>
    <dgm:pt modelId="{8A5A6017-78F7-45B2-93CF-1B8F82B61B93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fr-FR" dirty="0"/>
            <a:t>Fiabilité Opérationnelle (MAE) : le modèle garantit une prédiction réaliste pour la majorité du parc immobilier. Cette précision est cruciale pour la Ville de Seattle : elle permet d'éviter les sous-estimations budgétaires massives lors de la planification des campagnes de rénovation énergétique.</a:t>
          </a:r>
          <a:endParaRPr lang="en-US" dirty="0"/>
        </a:p>
      </dgm:t>
    </dgm:pt>
    <dgm:pt modelId="{C278CB42-66A0-4437-BD9D-9D190F0B4793}" type="parTrans" cxnId="{BD5EC57D-37B5-42BB-B56A-8EB095B66C97}">
      <dgm:prSet/>
      <dgm:spPr/>
      <dgm:t>
        <a:bodyPr/>
        <a:lstStyle/>
        <a:p>
          <a:endParaRPr lang="en-US"/>
        </a:p>
      </dgm:t>
    </dgm:pt>
    <dgm:pt modelId="{762BEFB1-2B84-4719-9317-C122C4252431}" type="sibTrans" cxnId="{BD5EC57D-37B5-42BB-B56A-8EB095B66C97}">
      <dgm:prSet/>
      <dgm:spPr/>
      <dgm:t>
        <a:bodyPr/>
        <a:lstStyle/>
        <a:p>
          <a:endParaRPr lang="en-US"/>
        </a:p>
      </dgm:t>
    </dgm:pt>
    <dgm:pt modelId="{EEE5009F-931F-493B-9D2D-58F80F63A13D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fr-FR" dirty="0"/>
            <a:t>Stabilité face aux </a:t>
          </a:r>
          <a:r>
            <a:rPr lang="fr-FR" dirty="0" err="1"/>
            <a:t>Outliers</a:t>
          </a:r>
          <a:r>
            <a:rPr lang="fr-FR" dirty="0"/>
            <a:t> (RMSE) :Le modèle affiche le RMSE le plus bas de tous les tests. Cela confirme sa robustesse face aux </a:t>
          </a:r>
          <a:r>
            <a:rPr lang="fr-FR" dirty="0" err="1"/>
            <a:t>outliers</a:t>
          </a:r>
          <a:r>
            <a:rPr lang="fr-FR" dirty="0"/>
            <a:t> (valeurs extrêmes). Contrairement à d'autres modèles, le </a:t>
          </a:r>
          <a:r>
            <a:rPr lang="fr-FR" dirty="0" err="1"/>
            <a:t>Random</a:t>
          </a:r>
          <a:r>
            <a:rPr lang="fr-FR" dirty="0"/>
            <a:t> Forest n'est pas déstabilisé par les très grands bâtiments atypiques, assurant ainsi une stabilité prédictive sur l'ensemble du territoire. </a:t>
          </a:r>
          <a:endParaRPr lang="en-US" dirty="0"/>
        </a:p>
      </dgm:t>
    </dgm:pt>
    <dgm:pt modelId="{E73218EB-303A-46A3-B40E-D5AF20D74579}" type="parTrans" cxnId="{F5708328-38CB-43ED-87BB-74DF7CAF854F}">
      <dgm:prSet/>
      <dgm:spPr/>
      <dgm:t>
        <a:bodyPr/>
        <a:lstStyle/>
        <a:p>
          <a:endParaRPr lang="en-US"/>
        </a:p>
      </dgm:t>
    </dgm:pt>
    <dgm:pt modelId="{FEC011DC-BD59-4794-AB0D-CD125184927C}" type="sibTrans" cxnId="{F5708328-38CB-43ED-87BB-74DF7CAF854F}">
      <dgm:prSet/>
      <dgm:spPr/>
      <dgm:t>
        <a:bodyPr/>
        <a:lstStyle/>
        <a:p>
          <a:endParaRPr lang="en-US"/>
        </a:p>
      </dgm:t>
    </dgm:pt>
    <dgm:pt modelId="{C593BA22-32EF-408C-AC69-033D88712E45}" type="pres">
      <dgm:prSet presAssocID="{AC484005-113A-4A81-92F6-62C5EA8217FD}" presName="root" presStyleCnt="0">
        <dgm:presLayoutVars>
          <dgm:dir/>
          <dgm:resizeHandles val="exact"/>
        </dgm:presLayoutVars>
      </dgm:prSet>
      <dgm:spPr/>
    </dgm:pt>
    <dgm:pt modelId="{824EB8D7-42A5-42B0-847C-DC98DA8BAF73}" type="pres">
      <dgm:prSet presAssocID="{56448DB3-6788-4E88-B6BC-A0055EDCDE40}" presName="compNode" presStyleCnt="0"/>
      <dgm:spPr/>
    </dgm:pt>
    <dgm:pt modelId="{6A0DCBA1-4DC0-438D-B487-3077BD0D5365}" type="pres">
      <dgm:prSet presAssocID="{56448DB3-6788-4E88-B6BC-A0055EDCDE40}" presName="bgRect" presStyleLbl="bgShp" presStyleIdx="0" presStyleCnt="3"/>
      <dgm:spPr/>
    </dgm:pt>
    <dgm:pt modelId="{ED0D8958-9E21-47B1-BB77-799C041AE2F8}" type="pres">
      <dgm:prSet presAssocID="{56448DB3-6788-4E88-B6BC-A0055EDCDE4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7773F546-EF93-4E2D-88B8-D6BECB9C14D0}" type="pres">
      <dgm:prSet presAssocID="{56448DB3-6788-4E88-B6BC-A0055EDCDE40}" presName="spaceRect" presStyleCnt="0"/>
      <dgm:spPr/>
    </dgm:pt>
    <dgm:pt modelId="{214321A9-B372-4343-840A-F560E3F521F2}" type="pres">
      <dgm:prSet presAssocID="{56448DB3-6788-4E88-B6BC-A0055EDCDE40}" presName="parTx" presStyleLbl="revTx" presStyleIdx="0" presStyleCnt="3">
        <dgm:presLayoutVars>
          <dgm:chMax val="0"/>
          <dgm:chPref val="0"/>
        </dgm:presLayoutVars>
      </dgm:prSet>
      <dgm:spPr/>
    </dgm:pt>
    <dgm:pt modelId="{D96422AF-CEB1-491A-AFEA-8846E8CC6FD1}" type="pres">
      <dgm:prSet presAssocID="{AEC36258-AB5B-4D14-BFF5-2D05BF978457}" presName="sibTrans" presStyleCnt="0"/>
      <dgm:spPr/>
    </dgm:pt>
    <dgm:pt modelId="{F1E2B344-C28A-4828-B3B6-2801BF026E98}" type="pres">
      <dgm:prSet presAssocID="{8A5A6017-78F7-45B2-93CF-1B8F82B61B93}" presName="compNode" presStyleCnt="0"/>
      <dgm:spPr/>
    </dgm:pt>
    <dgm:pt modelId="{F8EEC3EA-417A-44C2-9619-04164CAC6CBC}" type="pres">
      <dgm:prSet presAssocID="{8A5A6017-78F7-45B2-93CF-1B8F82B61B93}" presName="bgRect" presStyleLbl="bgShp" presStyleIdx="1" presStyleCnt="3"/>
      <dgm:spPr/>
    </dgm:pt>
    <dgm:pt modelId="{FD4ADD88-3453-4664-9CD1-83424A51209A}" type="pres">
      <dgm:prSet presAssocID="{8A5A6017-78F7-45B2-93CF-1B8F82B61B9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</dgm:pt>
    <dgm:pt modelId="{B8FAC5D5-971D-4D24-87B2-BF0A3B888261}" type="pres">
      <dgm:prSet presAssocID="{8A5A6017-78F7-45B2-93CF-1B8F82B61B93}" presName="spaceRect" presStyleCnt="0"/>
      <dgm:spPr/>
    </dgm:pt>
    <dgm:pt modelId="{1EC91791-9D34-46EB-AF89-FEB4D3D535A2}" type="pres">
      <dgm:prSet presAssocID="{8A5A6017-78F7-45B2-93CF-1B8F82B61B93}" presName="parTx" presStyleLbl="revTx" presStyleIdx="1" presStyleCnt="3">
        <dgm:presLayoutVars>
          <dgm:chMax val="0"/>
          <dgm:chPref val="0"/>
        </dgm:presLayoutVars>
      </dgm:prSet>
      <dgm:spPr/>
    </dgm:pt>
    <dgm:pt modelId="{DBCBA332-6A60-49EA-B8CE-2F7147ABBD05}" type="pres">
      <dgm:prSet presAssocID="{762BEFB1-2B84-4719-9317-C122C4252431}" presName="sibTrans" presStyleCnt="0"/>
      <dgm:spPr/>
    </dgm:pt>
    <dgm:pt modelId="{CBFD55C7-0FA1-409B-B5E5-3B843C39B97E}" type="pres">
      <dgm:prSet presAssocID="{EEE5009F-931F-493B-9D2D-58F80F63A13D}" presName="compNode" presStyleCnt="0"/>
      <dgm:spPr/>
    </dgm:pt>
    <dgm:pt modelId="{D1B5C202-0FE8-469C-AC84-A225F1C5A58C}" type="pres">
      <dgm:prSet presAssocID="{EEE5009F-931F-493B-9D2D-58F80F63A13D}" presName="bgRect" presStyleLbl="bgShp" presStyleIdx="2" presStyleCnt="3"/>
      <dgm:spPr/>
    </dgm:pt>
    <dgm:pt modelId="{F1873A1D-400E-4FAC-8955-5EE4F22A21B3}" type="pres">
      <dgm:prSet presAssocID="{EEE5009F-931F-493B-9D2D-58F80F63A13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</dgm:pt>
    <dgm:pt modelId="{7FB91D5D-C770-4940-8EE5-3408AF1FD793}" type="pres">
      <dgm:prSet presAssocID="{EEE5009F-931F-493B-9D2D-58F80F63A13D}" presName="spaceRect" presStyleCnt="0"/>
      <dgm:spPr/>
    </dgm:pt>
    <dgm:pt modelId="{BCD68A90-A463-45C8-B547-0D385C436954}" type="pres">
      <dgm:prSet presAssocID="{EEE5009F-931F-493B-9D2D-58F80F63A13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BF4C521-07EB-4664-A269-7F658C15D72D}" srcId="{AC484005-113A-4A81-92F6-62C5EA8217FD}" destId="{56448DB3-6788-4E88-B6BC-A0055EDCDE40}" srcOrd="0" destOrd="0" parTransId="{6C65F662-21B8-46C3-93E7-BE38F226C957}" sibTransId="{AEC36258-AB5B-4D14-BFF5-2D05BF978457}"/>
    <dgm:cxn modelId="{F5708328-38CB-43ED-87BB-74DF7CAF854F}" srcId="{AC484005-113A-4A81-92F6-62C5EA8217FD}" destId="{EEE5009F-931F-493B-9D2D-58F80F63A13D}" srcOrd="2" destOrd="0" parTransId="{E73218EB-303A-46A3-B40E-D5AF20D74579}" sibTransId="{FEC011DC-BD59-4794-AB0D-CD125184927C}"/>
    <dgm:cxn modelId="{98BEB53A-33ED-4F4E-80E0-E7A27F7B5018}" type="presOf" srcId="{AC484005-113A-4A81-92F6-62C5EA8217FD}" destId="{C593BA22-32EF-408C-AC69-033D88712E45}" srcOrd="0" destOrd="0" presId="urn:microsoft.com/office/officeart/2018/2/layout/IconVerticalSolidList"/>
    <dgm:cxn modelId="{E0147F46-E830-4B28-A91C-500723E230E7}" type="presOf" srcId="{EEE5009F-931F-493B-9D2D-58F80F63A13D}" destId="{BCD68A90-A463-45C8-B547-0D385C436954}" srcOrd="0" destOrd="0" presId="urn:microsoft.com/office/officeart/2018/2/layout/IconVerticalSolidList"/>
    <dgm:cxn modelId="{BD5EC57D-37B5-42BB-B56A-8EB095B66C97}" srcId="{AC484005-113A-4A81-92F6-62C5EA8217FD}" destId="{8A5A6017-78F7-45B2-93CF-1B8F82B61B93}" srcOrd="1" destOrd="0" parTransId="{C278CB42-66A0-4437-BD9D-9D190F0B4793}" sibTransId="{762BEFB1-2B84-4719-9317-C122C4252431}"/>
    <dgm:cxn modelId="{BE24B7A5-DCD6-481D-8208-B00D1FACFA1C}" type="presOf" srcId="{56448DB3-6788-4E88-B6BC-A0055EDCDE40}" destId="{214321A9-B372-4343-840A-F560E3F521F2}" srcOrd="0" destOrd="0" presId="urn:microsoft.com/office/officeart/2018/2/layout/IconVerticalSolidList"/>
    <dgm:cxn modelId="{792DECE6-C8AF-4D1A-942E-D0C2CFA90FA0}" type="presOf" srcId="{8A5A6017-78F7-45B2-93CF-1B8F82B61B93}" destId="{1EC91791-9D34-46EB-AF89-FEB4D3D535A2}" srcOrd="0" destOrd="0" presId="urn:microsoft.com/office/officeart/2018/2/layout/IconVerticalSolidList"/>
    <dgm:cxn modelId="{2C77674D-72BD-4C6B-A014-C321D71D1ABD}" type="presParOf" srcId="{C593BA22-32EF-408C-AC69-033D88712E45}" destId="{824EB8D7-42A5-42B0-847C-DC98DA8BAF73}" srcOrd="0" destOrd="0" presId="urn:microsoft.com/office/officeart/2018/2/layout/IconVerticalSolidList"/>
    <dgm:cxn modelId="{72BC6031-B7D9-4301-BA8D-DD29DAE0FF5B}" type="presParOf" srcId="{824EB8D7-42A5-42B0-847C-DC98DA8BAF73}" destId="{6A0DCBA1-4DC0-438D-B487-3077BD0D5365}" srcOrd="0" destOrd="0" presId="urn:microsoft.com/office/officeart/2018/2/layout/IconVerticalSolidList"/>
    <dgm:cxn modelId="{0CF175F4-6D96-44DB-94A7-3EC09923908D}" type="presParOf" srcId="{824EB8D7-42A5-42B0-847C-DC98DA8BAF73}" destId="{ED0D8958-9E21-47B1-BB77-799C041AE2F8}" srcOrd="1" destOrd="0" presId="urn:microsoft.com/office/officeart/2018/2/layout/IconVerticalSolidList"/>
    <dgm:cxn modelId="{EB19B242-05EA-4077-BFA0-F7C1E9F4BB6F}" type="presParOf" srcId="{824EB8D7-42A5-42B0-847C-DC98DA8BAF73}" destId="{7773F546-EF93-4E2D-88B8-D6BECB9C14D0}" srcOrd="2" destOrd="0" presId="urn:microsoft.com/office/officeart/2018/2/layout/IconVerticalSolidList"/>
    <dgm:cxn modelId="{35FA69D5-BDCB-4BEF-A9BA-C543B8982DFC}" type="presParOf" srcId="{824EB8D7-42A5-42B0-847C-DC98DA8BAF73}" destId="{214321A9-B372-4343-840A-F560E3F521F2}" srcOrd="3" destOrd="0" presId="urn:microsoft.com/office/officeart/2018/2/layout/IconVerticalSolidList"/>
    <dgm:cxn modelId="{B178BDAB-6B0C-449F-94A1-61042159B45E}" type="presParOf" srcId="{C593BA22-32EF-408C-AC69-033D88712E45}" destId="{D96422AF-CEB1-491A-AFEA-8846E8CC6FD1}" srcOrd="1" destOrd="0" presId="urn:microsoft.com/office/officeart/2018/2/layout/IconVerticalSolidList"/>
    <dgm:cxn modelId="{54B7C183-B8B5-4DAD-9F87-2A7FBD5F4709}" type="presParOf" srcId="{C593BA22-32EF-408C-AC69-033D88712E45}" destId="{F1E2B344-C28A-4828-B3B6-2801BF026E98}" srcOrd="2" destOrd="0" presId="urn:microsoft.com/office/officeart/2018/2/layout/IconVerticalSolidList"/>
    <dgm:cxn modelId="{06B294F0-F350-4E25-BD88-00BF060FC31A}" type="presParOf" srcId="{F1E2B344-C28A-4828-B3B6-2801BF026E98}" destId="{F8EEC3EA-417A-44C2-9619-04164CAC6CBC}" srcOrd="0" destOrd="0" presId="urn:microsoft.com/office/officeart/2018/2/layout/IconVerticalSolidList"/>
    <dgm:cxn modelId="{91D32DF5-1B01-40DC-8120-34B2D3083BBB}" type="presParOf" srcId="{F1E2B344-C28A-4828-B3B6-2801BF026E98}" destId="{FD4ADD88-3453-4664-9CD1-83424A51209A}" srcOrd="1" destOrd="0" presId="urn:microsoft.com/office/officeart/2018/2/layout/IconVerticalSolidList"/>
    <dgm:cxn modelId="{E6D28EA3-AA39-4ED8-ACDA-ABE30BC38B12}" type="presParOf" srcId="{F1E2B344-C28A-4828-B3B6-2801BF026E98}" destId="{B8FAC5D5-971D-4D24-87B2-BF0A3B888261}" srcOrd="2" destOrd="0" presId="urn:microsoft.com/office/officeart/2018/2/layout/IconVerticalSolidList"/>
    <dgm:cxn modelId="{87973431-D2A5-4422-886E-2515650665C6}" type="presParOf" srcId="{F1E2B344-C28A-4828-B3B6-2801BF026E98}" destId="{1EC91791-9D34-46EB-AF89-FEB4D3D535A2}" srcOrd="3" destOrd="0" presId="urn:microsoft.com/office/officeart/2018/2/layout/IconVerticalSolidList"/>
    <dgm:cxn modelId="{8E0918B2-8B71-48F2-B35C-9A90270A04B4}" type="presParOf" srcId="{C593BA22-32EF-408C-AC69-033D88712E45}" destId="{DBCBA332-6A60-49EA-B8CE-2F7147ABBD05}" srcOrd="3" destOrd="0" presId="urn:microsoft.com/office/officeart/2018/2/layout/IconVerticalSolidList"/>
    <dgm:cxn modelId="{AC915F88-DC3E-42F3-820C-D586DB7843E1}" type="presParOf" srcId="{C593BA22-32EF-408C-AC69-033D88712E45}" destId="{CBFD55C7-0FA1-409B-B5E5-3B843C39B97E}" srcOrd="4" destOrd="0" presId="urn:microsoft.com/office/officeart/2018/2/layout/IconVerticalSolidList"/>
    <dgm:cxn modelId="{69EDBC48-9515-4A59-86A2-0E5B5AE5FF18}" type="presParOf" srcId="{CBFD55C7-0FA1-409B-B5E5-3B843C39B97E}" destId="{D1B5C202-0FE8-469C-AC84-A225F1C5A58C}" srcOrd="0" destOrd="0" presId="urn:microsoft.com/office/officeart/2018/2/layout/IconVerticalSolidList"/>
    <dgm:cxn modelId="{F79D5C53-BA84-41EB-A43F-78B5C42B2CCA}" type="presParOf" srcId="{CBFD55C7-0FA1-409B-B5E5-3B843C39B97E}" destId="{F1873A1D-400E-4FAC-8955-5EE4F22A21B3}" srcOrd="1" destOrd="0" presId="urn:microsoft.com/office/officeart/2018/2/layout/IconVerticalSolidList"/>
    <dgm:cxn modelId="{95FAB2DA-76ED-47A5-A67F-5D9F80ACE9CC}" type="presParOf" srcId="{CBFD55C7-0FA1-409B-B5E5-3B843C39B97E}" destId="{7FB91D5D-C770-4940-8EE5-3408AF1FD793}" srcOrd="2" destOrd="0" presId="urn:microsoft.com/office/officeart/2018/2/layout/IconVerticalSolidList"/>
    <dgm:cxn modelId="{B96F9378-728E-485E-98DD-EC55A5D983AD}" type="presParOf" srcId="{CBFD55C7-0FA1-409B-B5E5-3B843C39B97E}" destId="{BCD68A90-A463-45C8-B547-0D385C4369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5C0144-5B82-4F5C-B8D5-DC719B14A533}">
      <dsp:nvSpPr>
        <dsp:cNvPr id="0" name=""/>
        <dsp:cNvSpPr/>
      </dsp:nvSpPr>
      <dsp:spPr>
        <a:xfrm>
          <a:off x="385839" y="1932"/>
          <a:ext cx="2211155" cy="13266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Objectif : </a:t>
          </a:r>
          <a:r>
            <a:rPr lang="en-US" sz="1500" kern="1200"/>
            <a:t>Neutralité Carbone 2050 : Le Radar Énergétique de Seattle.</a:t>
          </a:r>
        </a:p>
      </dsp:txBody>
      <dsp:txXfrm>
        <a:off x="424697" y="40790"/>
        <a:ext cx="2133439" cy="1248977"/>
      </dsp:txXfrm>
    </dsp:sp>
    <dsp:sp modelId="{FFD9F611-EF2C-49B2-BC65-1A1586B39CA8}">
      <dsp:nvSpPr>
        <dsp:cNvPr id="0" name=""/>
        <dsp:cNvSpPr/>
      </dsp:nvSpPr>
      <dsp:spPr>
        <a:xfrm>
          <a:off x="2791577" y="391095"/>
          <a:ext cx="468765" cy="5483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791577" y="500768"/>
        <a:ext cx="328136" cy="329020"/>
      </dsp:txXfrm>
    </dsp:sp>
    <dsp:sp modelId="{0DE2407A-DD11-4365-92DB-EA1B4A1BB565}">
      <dsp:nvSpPr>
        <dsp:cNvPr id="0" name=""/>
        <dsp:cNvSpPr/>
      </dsp:nvSpPr>
      <dsp:spPr>
        <a:xfrm>
          <a:off x="3481457" y="1932"/>
          <a:ext cx="2211155" cy="13266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Le problème :</a:t>
          </a:r>
          <a:r>
            <a:rPr lang="en-US" sz="1500" kern="1200"/>
            <a:t> L'audit physique des bâtiments est un goulot d'étranglement financier et temporel.</a:t>
          </a:r>
        </a:p>
      </dsp:txBody>
      <dsp:txXfrm>
        <a:off x="3520315" y="40790"/>
        <a:ext cx="2133439" cy="1248977"/>
      </dsp:txXfrm>
    </dsp:sp>
    <dsp:sp modelId="{8F5E29F4-5063-4EFA-ADAC-2A508E6EAF97}">
      <dsp:nvSpPr>
        <dsp:cNvPr id="0" name=""/>
        <dsp:cNvSpPr/>
      </dsp:nvSpPr>
      <dsp:spPr>
        <a:xfrm rot="5400000">
          <a:off x="4352653" y="1483406"/>
          <a:ext cx="468765" cy="5483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4422526" y="1523207"/>
        <a:ext cx="329020" cy="328136"/>
      </dsp:txXfrm>
    </dsp:sp>
    <dsp:sp modelId="{DA5B9C8D-E2BC-42EE-9D10-801AEDC2A017}">
      <dsp:nvSpPr>
        <dsp:cNvPr id="0" name=""/>
        <dsp:cNvSpPr/>
      </dsp:nvSpPr>
      <dsp:spPr>
        <a:xfrm>
          <a:off x="3481457" y="2213088"/>
          <a:ext cx="2211155" cy="13266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La solution :</a:t>
          </a:r>
          <a:r>
            <a:rPr lang="en-US" sz="1500" kern="1200"/>
            <a:t> Un modèle prédictif basé sur des données structurelles simples pour identifier les "passoires énergétiques" sans intervention humaine.</a:t>
          </a:r>
        </a:p>
      </dsp:txBody>
      <dsp:txXfrm>
        <a:off x="3520315" y="2251946"/>
        <a:ext cx="2133439" cy="1248977"/>
      </dsp:txXfrm>
    </dsp:sp>
    <dsp:sp modelId="{2E783B2D-5A09-4171-87F8-95ADC5E3A588}">
      <dsp:nvSpPr>
        <dsp:cNvPr id="0" name=""/>
        <dsp:cNvSpPr/>
      </dsp:nvSpPr>
      <dsp:spPr>
        <a:xfrm rot="10800000">
          <a:off x="2818110" y="2602251"/>
          <a:ext cx="468765" cy="5483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2958739" y="2711924"/>
        <a:ext cx="328136" cy="329020"/>
      </dsp:txXfrm>
    </dsp:sp>
    <dsp:sp modelId="{18C9AA9B-1C84-4C82-A199-027F91EF0730}">
      <dsp:nvSpPr>
        <dsp:cNvPr id="0" name=""/>
        <dsp:cNvSpPr/>
      </dsp:nvSpPr>
      <dsp:spPr>
        <a:xfrm>
          <a:off x="385839" y="2213088"/>
          <a:ext cx="2211155" cy="13266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L'impact :</a:t>
          </a:r>
          <a:r>
            <a:rPr lang="en-US" sz="1500" kern="1200"/>
            <a:t> Allouer les subventions de rénovation là où elles auront le plus d'effet écologique</a:t>
          </a:r>
        </a:p>
      </dsp:txBody>
      <dsp:txXfrm>
        <a:off x="424697" y="2251946"/>
        <a:ext cx="2133439" cy="12489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BCEC12-540B-4A39-8FAB-DCDCC7DC8A28}">
      <dsp:nvSpPr>
        <dsp:cNvPr id="0" name=""/>
        <dsp:cNvSpPr/>
      </dsp:nvSpPr>
      <dsp:spPr bwMode="white">
        <a:xfrm>
          <a:off x="0" y="0"/>
          <a:ext cx="9741578" cy="1259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Le défi : </a:t>
          </a:r>
          <a:r>
            <a:rPr lang="fr-FR" sz="2000" kern="1200" dirty="0"/>
            <a:t>Démarrage avec un jeu de données robuste de 3 376 bâtiments, comprenant 46 indicateurs initiaux couvrant divers aspects immobiliers et énergétiques. Une minorité de bâtiments (gratte-ciels, hôpitaux) consomme autant que le reste de la ville.</a:t>
          </a:r>
          <a:endParaRPr lang="en-US" sz="2000" kern="1200" dirty="0"/>
        </a:p>
      </dsp:txBody>
      <dsp:txXfrm>
        <a:off x="0" y="0"/>
        <a:ext cx="9741578" cy="1259329"/>
      </dsp:txXfrm>
    </dsp:sp>
    <dsp:sp modelId="{2337A7F1-07F4-49AA-92F4-74AE70CD79F6}">
      <dsp:nvSpPr>
        <dsp:cNvPr id="0" name=""/>
        <dsp:cNvSpPr/>
      </dsp:nvSpPr>
      <dsp:spPr bwMode="white">
        <a:xfrm>
          <a:off x="859551" y="1469217"/>
          <a:ext cx="9741578" cy="1259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Filtrage métier : </a:t>
          </a:r>
          <a:r>
            <a:rPr lang="fr-FR" sz="2000" kern="1200" dirty="0"/>
            <a:t>Focus exclusif sur les bâtiments non-résidentiels (exclusion du secteur résidentiel pour répondre à la problématique tertiaire).</a:t>
          </a:r>
          <a:endParaRPr lang="en-US" sz="2000" kern="1200" dirty="0"/>
        </a:p>
      </dsp:txBody>
      <dsp:txXfrm>
        <a:off x="859551" y="1469217"/>
        <a:ext cx="9741578" cy="1259329"/>
      </dsp:txXfrm>
    </dsp:sp>
    <dsp:sp modelId="{E7A8163E-11C0-47E5-8793-0E25813FC77E}">
      <dsp:nvSpPr>
        <dsp:cNvPr id="0" name=""/>
        <dsp:cNvSpPr/>
      </dsp:nvSpPr>
      <dsp:spPr bwMode="white">
        <a:xfrm>
          <a:off x="1719102" y="2938433"/>
          <a:ext cx="9741578" cy="1259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Décision : </a:t>
          </a:r>
          <a:r>
            <a:rPr lang="fr-FR" sz="2000" kern="1200" dirty="0"/>
            <a:t>Impossible de modéliser des chiffres aussi disparates sans correction statistique.</a:t>
          </a:r>
          <a:endParaRPr lang="en-US" sz="2000" kern="1200" dirty="0"/>
        </a:p>
      </dsp:txBody>
      <dsp:txXfrm>
        <a:off x="1719102" y="2938433"/>
        <a:ext cx="9741578" cy="1259329"/>
      </dsp:txXfrm>
    </dsp:sp>
    <dsp:sp modelId="{7EE094B5-13D8-4D23-AD97-B4586572FD7E}">
      <dsp:nvSpPr>
        <dsp:cNvPr id="0" name=""/>
        <dsp:cNvSpPr/>
      </dsp:nvSpPr>
      <dsp:spPr bwMode="white">
        <a:xfrm>
          <a:off x="8923014" y="954991"/>
          <a:ext cx="818564" cy="8185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>
            <a:solidFill>
              <a:schemeClr val="dk1"/>
            </a:solidFill>
          </a:endParaRPr>
        </a:p>
      </dsp:txBody>
      <dsp:txXfrm>
        <a:off x="8923014" y="954991"/>
        <a:ext cx="818564" cy="818564"/>
      </dsp:txXfrm>
    </dsp:sp>
    <dsp:sp modelId="{84AACDA1-A992-4814-A0F7-D5712004D270}">
      <dsp:nvSpPr>
        <dsp:cNvPr id="0" name=""/>
        <dsp:cNvSpPr/>
      </dsp:nvSpPr>
      <dsp:spPr bwMode="white">
        <a:xfrm>
          <a:off x="9782565" y="2415812"/>
          <a:ext cx="818564" cy="8185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>
            <a:solidFill>
              <a:schemeClr val="dk1"/>
            </a:solidFill>
          </a:endParaRPr>
        </a:p>
      </dsp:txBody>
      <dsp:txXfrm>
        <a:off x="9782565" y="2415812"/>
        <a:ext cx="818564" cy="8185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1A8873-48C0-4F0B-81DB-E01177A32880}">
      <dsp:nvSpPr>
        <dsp:cNvPr id="0" name=""/>
        <dsp:cNvSpPr/>
      </dsp:nvSpPr>
      <dsp:spPr>
        <a:xfrm>
          <a:off x="13576" y="1051488"/>
          <a:ext cx="1032656" cy="103265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DBB1F-2073-472A-BD7B-EA51C2EF9B33}">
      <dsp:nvSpPr>
        <dsp:cNvPr id="0" name=""/>
        <dsp:cNvSpPr/>
      </dsp:nvSpPr>
      <dsp:spPr>
        <a:xfrm>
          <a:off x="230434" y="1268346"/>
          <a:ext cx="598941" cy="5989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63E581-4EF3-4ECA-B430-694438EAB978}">
      <dsp:nvSpPr>
        <dsp:cNvPr id="0" name=""/>
        <dsp:cNvSpPr/>
      </dsp:nvSpPr>
      <dsp:spPr bwMode="white">
        <a:xfrm>
          <a:off x="1267516" y="1051488"/>
          <a:ext cx="2434120" cy="103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Filtrage Métier : </a:t>
          </a:r>
          <a:r>
            <a:rPr lang="fr-FR" sz="1800" kern="1200" dirty="0"/>
            <a:t>Sélection stricte du parc non-résidentiel.</a:t>
          </a:r>
          <a:endParaRPr lang="en-US" sz="1800" kern="1200" dirty="0"/>
        </a:p>
      </dsp:txBody>
      <dsp:txXfrm>
        <a:off x="1267516" y="1051488"/>
        <a:ext cx="2434120" cy="1032656"/>
      </dsp:txXfrm>
    </dsp:sp>
    <dsp:sp modelId="{02411AFF-02CB-435C-BE54-A75CA49A2239}">
      <dsp:nvSpPr>
        <dsp:cNvPr id="0" name=""/>
        <dsp:cNvSpPr/>
      </dsp:nvSpPr>
      <dsp:spPr>
        <a:xfrm>
          <a:off x="4125763" y="1051488"/>
          <a:ext cx="1032656" cy="103265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031BB-5A23-4C9B-B660-638A2C288EF8}">
      <dsp:nvSpPr>
        <dsp:cNvPr id="0" name=""/>
        <dsp:cNvSpPr/>
      </dsp:nvSpPr>
      <dsp:spPr>
        <a:xfrm>
          <a:off x="4342621" y="1268346"/>
          <a:ext cx="598941" cy="5989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34069-3DC6-4019-99D2-2F97B5E21509}">
      <dsp:nvSpPr>
        <dsp:cNvPr id="0" name=""/>
        <dsp:cNvSpPr/>
      </dsp:nvSpPr>
      <dsp:spPr bwMode="white">
        <a:xfrm>
          <a:off x="5379704" y="1051488"/>
          <a:ext cx="2434120" cy="103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Résultat : </a:t>
          </a:r>
          <a:r>
            <a:rPr lang="fr-FR" sz="1800" kern="1200" dirty="0"/>
            <a:t>1 558 bâtiments conservés (cohérent avec l'objectif de la ville).</a:t>
          </a:r>
          <a:endParaRPr lang="en-US" sz="1800" kern="1200" dirty="0"/>
        </a:p>
      </dsp:txBody>
      <dsp:txXfrm>
        <a:off x="5379704" y="1051488"/>
        <a:ext cx="2434120" cy="1032656"/>
      </dsp:txXfrm>
    </dsp:sp>
    <dsp:sp modelId="{4BFD185F-53F2-4A35-962F-3BF9FFDC9B57}">
      <dsp:nvSpPr>
        <dsp:cNvPr id="0" name=""/>
        <dsp:cNvSpPr/>
      </dsp:nvSpPr>
      <dsp:spPr>
        <a:xfrm>
          <a:off x="8237951" y="1051488"/>
          <a:ext cx="1032656" cy="103265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916E5B-398E-44FF-89D2-66F62A826A5F}">
      <dsp:nvSpPr>
        <dsp:cNvPr id="0" name=""/>
        <dsp:cNvSpPr/>
      </dsp:nvSpPr>
      <dsp:spPr>
        <a:xfrm>
          <a:off x="8454809" y="1268346"/>
          <a:ext cx="598941" cy="5989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EF3FA1-B7DD-407C-BB2E-39D116C31F24}">
      <dsp:nvSpPr>
        <dsp:cNvPr id="0" name=""/>
        <dsp:cNvSpPr/>
      </dsp:nvSpPr>
      <dsp:spPr bwMode="white">
        <a:xfrm>
          <a:off x="9491891" y="1051488"/>
          <a:ext cx="2434120" cy="103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Cohérence Physique : </a:t>
          </a:r>
          <a:r>
            <a:rPr lang="fr-FR" sz="1800" kern="1200" dirty="0"/>
            <a:t>Suppression des enregistrements aberrants présentant des surfaces ou des consommations inferieur à 0. </a:t>
          </a:r>
          <a:endParaRPr lang="en-US" sz="1800" kern="1200" dirty="0"/>
        </a:p>
      </dsp:txBody>
      <dsp:txXfrm>
        <a:off x="9491891" y="1051488"/>
        <a:ext cx="2434120" cy="1032656"/>
      </dsp:txXfrm>
    </dsp:sp>
    <dsp:sp modelId="{03956D2A-9222-4AE0-9415-8EE240E3002D}">
      <dsp:nvSpPr>
        <dsp:cNvPr id="0" name=""/>
        <dsp:cNvSpPr/>
      </dsp:nvSpPr>
      <dsp:spPr>
        <a:xfrm>
          <a:off x="13576" y="2937891"/>
          <a:ext cx="1032656" cy="103265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5A1260-AB71-4E28-BACB-22A3F27BD06E}">
      <dsp:nvSpPr>
        <dsp:cNvPr id="0" name=""/>
        <dsp:cNvSpPr/>
      </dsp:nvSpPr>
      <dsp:spPr>
        <a:xfrm>
          <a:off x="230434" y="3154749"/>
          <a:ext cx="598941" cy="59894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057BD-2449-4A8A-A00B-E61489FB773C}">
      <dsp:nvSpPr>
        <dsp:cNvPr id="0" name=""/>
        <dsp:cNvSpPr/>
      </dsp:nvSpPr>
      <dsp:spPr bwMode="white">
        <a:xfrm>
          <a:off x="1267516" y="2937891"/>
          <a:ext cx="2434120" cy="103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Diagnostic des </a:t>
          </a:r>
          <a:r>
            <a:rPr lang="fr-FR" sz="1800" b="1" kern="1200" dirty="0" err="1"/>
            <a:t>Outliers</a:t>
          </a:r>
          <a:r>
            <a:rPr lang="fr-FR" sz="1800" b="1" kern="1200" dirty="0"/>
            <a:t> (IQR) : </a:t>
          </a:r>
          <a:r>
            <a:rPr lang="fr-FR" sz="1800" kern="1200" dirty="0"/>
            <a:t>L'analyse de l'écart interquartile a révélé des valeurs extrêmes massives.</a:t>
          </a:r>
          <a:endParaRPr lang="en-US" sz="1800" kern="1200" dirty="0"/>
        </a:p>
      </dsp:txBody>
      <dsp:txXfrm>
        <a:off x="1267516" y="2937891"/>
        <a:ext cx="2434120" cy="1032656"/>
      </dsp:txXfrm>
    </dsp:sp>
    <dsp:sp modelId="{E9B3B7E1-6CB1-462A-A05F-E6DA35DB2BBB}">
      <dsp:nvSpPr>
        <dsp:cNvPr id="0" name=""/>
        <dsp:cNvSpPr/>
      </dsp:nvSpPr>
      <dsp:spPr>
        <a:xfrm>
          <a:off x="4125763" y="2937891"/>
          <a:ext cx="1032656" cy="103265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AA8E25-1903-4928-8089-5EA3AAC03A3E}">
      <dsp:nvSpPr>
        <dsp:cNvPr id="0" name=""/>
        <dsp:cNvSpPr/>
      </dsp:nvSpPr>
      <dsp:spPr>
        <a:xfrm>
          <a:off x="4342621" y="3154749"/>
          <a:ext cx="598941" cy="59894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5115EB-7032-4F0E-90D7-48C689B9C073}">
      <dsp:nvSpPr>
        <dsp:cNvPr id="0" name=""/>
        <dsp:cNvSpPr/>
      </dsp:nvSpPr>
      <dsp:spPr bwMode="white">
        <a:xfrm>
          <a:off x="5379704" y="2937891"/>
          <a:ext cx="2434120" cy="103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La Réponse Stratégique : </a:t>
          </a:r>
          <a:r>
            <a:rPr lang="fr-FR" sz="1800" kern="1200" dirty="0"/>
            <a:t>Utilisation de l'écart interquartile (</a:t>
          </a:r>
          <a:r>
            <a:rPr lang="fr-FR" sz="1800" b="1" kern="1200" dirty="0"/>
            <a:t>IQR</a:t>
          </a:r>
          <a:r>
            <a:rPr lang="fr-FR" sz="1800" kern="1200" dirty="0"/>
            <a:t>) pour diagnostiquer ces écarts et choix de la </a:t>
          </a:r>
          <a:r>
            <a:rPr lang="fr-FR" sz="1800" b="1" kern="1200" dirty="0"/>
            <a:t>transformation logarithmique</a:t>
          </a:r>
          <a:r>
            <a:rPr lang="fr-FR" sz="1800" kern="1200" dirty="0"/>
            <a:t> pour stabiliser les données.</a:t>
          </a:r>
          <a:endParaRPr lang="en-US" sz="1800" kern="1200" dirty="0"/>
        </a:p>
      </dsp:txBody>
      <dsp:txXfrm>
        <a:off x="5379704" y="2937891"/>
        <a:ext cx="2434120" cy="1032656"/>
      </dsp:txXfrm>
    </dsp:sp>
    <dsp:sp modelId="{611C4FB6-71B5-4A1D-BBC6-7D2B4FE8747E}">
      <dsp:nvSpPr>
        <dsp:cNvPr id="0" name=""/>
        <dsp:cNvSpPr/>
      </dsp:nvSpPr>
      <dsp:spPr>
        <a:xfrm>
          <a:off x="8237951" y="2937891"/>
          <a:ext cx="1032656" cy="103265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3D56D7-944D-4EBC-8492-F6A13DAB0662}">
      <dsp:nvSpPr>
        <dsp:cNvPr id="0" name=""/>
        <dsp:cNvSpPr/>
      </dsp:nvSpPr>
      <dsp:spPr>
        <a:xfrm>
          <a:off x="8454809" y="3154749"/>
          <a:ext cx="598941" cy="59894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D05FAE-91FA-4216-BAE3-0F862D45089F}">
      <dsp:nvSpPr>
        <dsp:cNvPr id="0" name=""/>
        <dsp:cNvSpPr/>
      </dsp:nvSpPr>
      <dsp:spPr bwMode="white">
        <a:xfrm>
          <a:off x="9491891" y="2937891"/>
          <a:ext cx="2434120" cy="103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Objectif : </a:t>
          </a:r>
          <a:r>
            <a:rPr lang="fr-FR" sz="1800" kern="1200" dirty="0"/>
            <a:t>Stabiliser la variance et ne pas perdre les données des plus grands bâtiments de Seattle.</a:t>
          </a:r>
          <a:endParaRPr lang="en-US" sz="1800" kern="1200" dirty="0"/>
        </a:p>
      </dsp:txBody>
      <dsp:txXfrm>
        <a:off x="9491891" y="2937891"/>
        <a:ext cx="2434120" cy="10326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935165-03A3-4F19-8DD6-DB2363054841}">
      <dsp:nvSpPr>
        <dsp:cNvPr id="0" name=""/>
        <dsp:cNvSpPr/>
      </dsp:nvSpPr>
      <dsp:spPr>
        <a:xfrm>
          <a:off x="0" y="410"/>
          <a:ext cx="10999839" cy="961200"/>
        </a:xfrm>
        <a:prstGeom prst="roundRect">
          <a:avLst>
            <a:gd name="adj" fmla="val 10000"/>
          </a:avLst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91A3BB-B3C6-4E23-8725-E89E87A6DBD5}">
      <dsp:nvSpPr>
        <dsp:cNvPr id="0" name=""/>
        <dsp:cNvSpPr/>
      </dsp:nvSpPr>
      <dsp:spPr>
        <a:xfrm>
          <a:off x="290763" y="216680"/>
          <a:ext cx="528660" cy="5286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2AB44-56A8-4A13-B8A0-294F1491965B}">
      <dsp:nvSpPr>
        <dsp:cNvPr id="0" name=""/>
        <dsp:cNvSpPr/>
      </dsp:nvSpPr>
      <dsp:spPr bwMode="white">
        <a:xfrm>
          <a:off x="1110186" y="410"/>
          <a:ext cx="9889652" cy="96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27" tIns="101727" rIns="101727" bIns="10172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Gestion Automatisée des Lacunes  : </a:t>
          </a:r>
          <a:r>
            <a:rPr lang="fr-FR" sz="1800" kern="1200" dirty="0"/>
            <a:t>Au lieu de supprimer des lignes et perdre de l'information, le pipeline remplace les valeurs manquantes par la médiane. C'est une stratégie robuste face aux valeurs extrêmes.</a:t>
          </a:r>
          <a:endParaRPr lang="en-US" sz="1800" kern="1200" dirty="0"/>
        </a:p>
      </dsp:txBody>
      <dsp:txXfrm>
        <a:off x="1110186" y="410"/>
        <a:ext cx="9889652" cy="961200"/>
      </dsp:txXfrm>
    </dsp:sp>
    <dsp:sp modelId="{662BE22C-E7BD-49E3-B13C-9D324BD0A0E5}">
      <dsp:nvSpPr>
        <dsp:cNvPr id="0" name=""/>
        <dsp:cNvSpPr/>
      </dsp:nvSpPr>
      <dsp:spPr>
        <a:xfrm>
          <a:off x="0" y="1201911"/>
          <a:ext cx="10999839" cy="961200"/>
        </a:xfrm>
        <a:prstGeom prst="roundRect">
          <a:avLst>
            <a:gd name="adj" fmla="val 10000"/>
          </a:avLst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60D134-D6C4-4F77-BBCE-60D2176114C5}">
      <dsp:nvSpPr>
        <dsp:cNvPr id="0" name=""/>
        <dsp:cNvSpPr/>
      </dsp:nvSpPr>
      <dsp:spPr>
        <a:xfrm>
          <a:off x="290763" y="1418181"/>
          <a:ext cx="528660" cy="5286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91DE18-A54B-4D30-A52A-AAF419F04186}">
      <dsp:nvSpPr>
        <dsp:cNvPr id="0" name=""/>
        <dsp:cNvSpPr/>
      </dsp:nvSpPr>
      <dsp:spPr bwMode="white">
        <a:xfrm>
          <a:off x="1110186" y="1201911"/>
          <a:ext cx="9889652" cy="96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27" tIns="101727" rIns="101727" bIns="10172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Encodage Catégoriel : </a:t>
          </a:r>
          <a:r>
            <a:rPr lang="fr-FR" sz="1800" kern="1200" dirty="0"/>
            <a:t>Les ordinateurs ne lisent pas le texte. Le </a:t>
          </a:r>
          <a:r>
            <a:rPr lang="fr-FR" sz="1800" kern="1200" dirty="0" err="1"/>
            <a:t>OneHotEncoder</a:t>
          </a:r>
          <a:r>
            <a:rPr lang="fr-FR" sz="1800" kern="1200" dirty="0"/>
            <a:t> traduit les types d'usages (Bureaux, Entrepôts) en langage binaire sans créer de hiérarchie artificielle.</a:t>
          </a:r>
          <a:endParaRPr lang="en-US" sz="1800" kern="1200" dirty="0"/>
        </a:p>
      </dsp:txBody>
      <dsp:txXfrm>
        <a:off x="1110186" y="1201911"/>
        <a:ext cx="9889652" cy="961200"/>
      </dsp:txXfrm>
    </dsp:sp>
    <dsp:sp modelId="{919950ED-F174-44B5-9173-0052C195B565}">
      <dsp:nvSpPr>
        <dsp:cNvPr id="0" name=""/>
        <dsp:cNvSpPr/>
      </dsp:nvSpPr>
      <dsp:spPr>
        <a:xfrm>
          <a:off x="0" y="2403412"/>
          <a:ext cx="10999839" cy="961200"/>
        </a:xfrm>
        <a:prstGeom prst="roundRect">
          <a:avLst>
            <a:gd name="adj" fmla="val 10000"/>
          </a:avLst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753C9E-2437-4A66-97E9-1E0E4766304E}">
      <dsp:nvSpPr>
        <dsp:cNvPr id="0" name=""/>
        <dsp:cNvSpPr/>
      </dsp:nvSpPr>
      <dsp:spPr>
        <a:xfrm>
          <a:off x="290763" y="2619682"/>
          <a:ext cx="528660" cy="5286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F3E8A-8C25-416C-B9C8-9CB1D0DBB014}">
      <dsp:nvSpPr>
        <dsp:cNvPr id="0" name=""/>
        <dsp:cNvSpPr/>
      </dsp:nvSpPr>
      <dsp:spPr bwMode="white">
        <a:xfrm>
          <a:off x="1110186" y="2403412"/>
          <a:ext cx="9889652" cy="96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27" tIns="101727" rIns="101727" bIns="10172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/>
            <a:t>Standardisation : </a:t>
          </a:r>
          <a:r>
            <a:rPr lang="fr-FR" sz="1800" kern="1200"/>
            <a:t>La surface et l'âge n'ont pas les mêmes unités. Le StandardScaler les ramène à une échelle commune pour éviter que les "grands chiffres" n'écrasent les variables plus petites mais tout aussi cruciales.</a:t>
          </a:r>
          <a:endParaRPr lang="en-US" sz="1800" kern="1200"/>
        </a:p>
      </dsp:txBody>
      <dsp:txXfrm>
        <a:off x="1110186" y="2403412"/>
        <a:ext cx="9889652" cy="9612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DCBA1-4DC0-438D-B487-3077BD0D5365}">
      <dsp:nvSpPr>
        <dsp:cNvPr id="0" name=""/>
        <dsp:cNvSpPr/>
      </dsp:nvSpPr>
      <dsp:spPr bwMode="white">
        <a:xfrm>
          <a:off x="0" y="0"/>
          <a:ext cx="11022013" cy="1326545"/>
        </a:xfrm>
        <a:prstGeom prst="roundRect">
          <a:avLst>
            <a:gd name="adj" fmla="val 10000"/>
          </a:avLst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hemeClr val="dk1"/>
        </a:lnRef>
        <a:fillRef idx="1">
          <a:schemeClr val="accent1">
            <a:tint val="55000"/>
          </a:schemeClr>
        </a:fillRef>
        <a:effectRef idx="0">
          <a:scrgbClr r="0" g="0" b="0"/>
        </a:effectRef>
        <a:fontRef idx="minor"/>
      </dsp:style>
    </dsp:sp>
    <dsp:sp modelId="{ED0D8958-9E21-47B1-BB77-799C041AE2F8}">
      <dsp:nvSpPr>
        <dsp:cNvPr id="0" name=""/>
        <dsp:cNvSpPr/>
      </dsp:nvSpPr>
      <dsp:spPr bwMode="white">
        <a:xfrm>
          <a:off x="401280" y="298473"/>
          <a:ext cx="729600" cy="7296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hemeClr val="lt1"/>
        </a:lnRef>
        <a:fillRef idx="1">
          <a:schemeClr val="accent1">
            <a:shade val="50000"/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</dsp:sp>
    <dsp:sp modelId="{214321A9-B372-4343-840A-F560E3F521F2}">
      <dsp:nvSpPr>
        <dsp:cNvPr id="0" name=""/>
        <dsp:cNvSpPr/>
      </dsp:nvSpPr>
      <dsp:spPr bwMode="white">
        <a:xfrm>
          <a:off x="1532160" y="0"/>
          <a:ext cx="9489853" cy="1326545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spcFirstLastPara="0" vert="horz" wrap="square" lIns="140392" tIns="140392" rIns="140392" bIns="140392" numCol="1" spcCol="1270" anchor="ctr" anchorCtr="0">
          <a:noAutofit/>
        </a:bodyPr>
        <a:lstStyle/>
        <a:p>
          <a:pPr marL="0" lvl="0" indent="0" algn="just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 dirty="0">
              <a:solidFill>
                <a:schemeClr val="tx1"/>
              </a:solidFill>
            </a:rPr>
            <a:t>Supériorité du </a:t>
          </a:r>
          <a:r>
            <a:rPr lang="fr-FR" sz="3600" kern="1200" dirty="0" err="1">
              <a:solidFill>
                <a:schemeClr val="tx1"/>
              </a:solidFill>
            </a:rPr>
            <a:t>Random</a:t>
          </a:r>
          <a:r>
            <a:rPr lang="fr-FR" sz="3600" kern="1200" dirty="0">
              <a:solidFill>
                <a:schemeClr val="tx1"/>
              </a:solidFill>
            </a:rPr>
            <a:t> Forest : il surpasse la régression linéaire car il capture des variations non-linéaires que les modèles simples ignorent. La consommation de Seattle ne dépend pas seulement de la taille du bâtiment, mais de l'interaction complexe entre la surface, l'usage et l'âge. Le </a:t>
          </a:r>
          <a:r>
            <a:rPr lang="fr-FR" sz="3600" kern="1200" dirty="0" err="1">
              <a:solidFill>
                <a:schemeClr val="tx1"/>
              </a:solidFill>
            </a:rPr>
            <a:t>Random</a:t>
          </a:r>
          <a:r>
            <a:rPr lang="fr-FR" sz="3600" kern="1200" dirty="0">
              <a:solidFill>
                <a:schemeClr val="tx1"/>
              </a:solidFill>
            </a:rPr>
            <a:t> Forest modélise ces interactions, là où la régression linéaire échoue. </a:t>
          </a:r>
          <a:endParaRPr lang="en-US" sz="3600" kern="1200" dirty="0">
            <a:solidFill>
              <a:schemeClr val="tx1"/>
            </a:solidFill>
          </a:endParaRPr>
        </a:p>
      </dsp:txBody>
      <dsp:txXfrm>
        <a:off x="1532160" y="0"/>
        <a:ext cx="9489853" cy="1326545"/>
      </dsp:txXfrm>
    </dsp:sp>
    <dsp:sp modelId="{F8EEC3EA-417A-44C2-9619-04164CAC6CBC}">
      <dsp:nvSpPr>
        <dsp:cNvPr id="0" name=""/>
        <dsp:cNvSpPr/>
      </dsp:nvSpPr>
      <dsp:spPr bwMode="white">
        <a:xfrm>
          <a:off x="0" y="1658181"/>
          <a:ext cx="11022013" cy="1326545"/>
        </a:xfrm>
        <a:prstGeom prst="roundRect">
          <a:avLst>
            <a:gd name="adj" fmla="val 10000"/>
          </a:avLst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hemeClr val="dk1"/>
        </a:lnRef>
        <a:fillRef idx="1">
          <a:schemeClr val="accent1">
            <a:tint val="55000"/>
          </a:schemeClr>
        </a:fillRef>
        <a:effectRef idx="0">
          <a:scrgbClr r="0" g="0" b="0"/>
        </a:effectRef>
        <a:fontRef idx="minor"/>
      </dsp:style>
    </dsp:sp>
    <dsp:sp modelId="{FD4ADD88-3453-4664-9CD1-83424A51209A}">
      <dsp:nvSpPr>
        <dsp:cNvPr id="0" name=""/>
        <dsp:cNvSpPr/>
      </dsp:nvSpPr>
      <dsp:spPr bwMode="white">
        <a:xfrm>
          <a:off x="401280" y="1956654"/>
          <a:ext cx="729600" cy="7296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hemeClr val="lt1"/>
        </a:lnRef>
        <a:fillRef idx="1">
          <a:schemeClr val="accent1">
            <a:shade val="50000"/>
            <a:hueOff val="279999"/>
            <a:satOff val="-6796"/>
            <a:lumOff val="28758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</dsp:sp>
    <dsp:sp modelId="{1EC91791-9D34-46EB-AF89-FEB4D3D535A2}">
      <dsp:nvSpPr>
        <dsp:cNvPr id="0" name=""/>
        <dsp:cNvSpPr/>
      </dsp:nvSpPr>
      <dsp:spPr bwMode="white">
        <a:xfrm>
          <a:off x="1532160" y="1658181"/>
          <a:ext cx="9489853" cy="1326545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spcFirstLastPara="0" vert="horz" wrap="square" lIns="140392" tIns="140392" rIns="140392" bIns="140392" numCol="1" spcCol="1270" anchor="ctr" anchorCtr="0">
          <a:noAutofit/>
        </a:bodyPr>
        <a:lstStyle/>
        <a:p>
          <a:pPr marL="0" lvl="0" indent="0" algn="just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 dirty="0">
              <a:solidFill>
                <a:schemeClr val="tx1"/>
              </a:solidFill>
            </a:rPr>
            <a:t>Fiabilité Opérationnelle (MAE) : le modèle garantit une prédiction réaliste pour la majorité du parc immobilier. Cette précision est cruciale pour la Ville de Seattle : elle permet d'éviter les sous-estimations budgétaires massives lors de la planification des campagnes de rénovation énergétique.</a:t>
          </a:r>
          <a:endParaRPr lang="en-US" sz="3600" kern="1200" dirty="0">
            <a:solidFill>
              <a:schemeClr val="tx1"/>
            </a:solidFill>
          </a:endParaRPr>
        </a:p>
      </dsp:txBody>
      <dsp:txXfrm>
        <a:off x="1532160" y="1658181"/>
        <a:ext cx="9489853" cy="1326545"/>
      </dsp:txXfrm>
    </dsp:sp>
    <dsp:sp modelId="{D1B5C202-0FE8-469C-AC84-A225F1C5A58C}">
      <dsp:nvSpPr>
        <dsp:cNvPr id="0" name=""/>
        <dsp:cNvSpPr/>
      </dsp:nvSpPr>
      <dsp:spPr bwMode="white">
        <a:xfrm>
          <a:off x="0" y="3316363"/>
          <a:ext cx="11022013" cy="1326545"/>
        </a:xfrm>
        <a:prstGeom prst="roundRect">
          <a:avLst>
            <a:gd name="adj" fmla="val 10000"/>
          </a:avLst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hemeClr val="dk1"/>
        </a:lnRef>
        <a:fillRef idx="1">
          <a:schemeClr val="accent1">
            <a:tint val="55000"/>
          </a:schemeClr>
        </a:fillRef>
        <a:effectRef idx="0">
          <a:scrgbClr r="0" g="0" b="0"/>
        </a:effectRef>
        <a:fontRef idx="minor"/>
      </dsp:style>
    </dsp:sp>
    <dsp:sp modelId="{F1873A1D-400E-4FAC-8955-5EE4F22A21B3}">
      <dsp:nvSpPr>
        <dsp:cNvPr id="0" name=""/>
        <dsp:cNvSpPr/>
      </dsp:nvSpPr>
      <dsp:spPr bwMode="white">
        <a:xfrm>
          <a:off x="401280" y="3614836"/>
          <a:ext cx="729600" cy="7296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hemeClr val="lt1"/>
        </a:lnRef>
        <a:fillRef idx="1">
          <a:schemeClr val="accent1">
            <a:tint val="55000"/>
            <a:hueOff val="-139999"/>
            <a:satOff val="3399"/>
            <a:lumOff val="-14378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</dsp:sp>
    <dsp:sp modelId="{BCD68A90-A463-45C8-B547-0D385C436954}">
      <dsp:nvSpPr>
        <dsp:cNvPr id="0" name=""/>
        <dsp:cNvSpPr/>
      </dsp:nvSpPr>
      <dsp:spPr bwMode="white">
        <a:xfrm>
          <a:off x="1532160" y="3316363"/>
          <a:ext cx="9489853" cy="1326545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spcFirstLastPara="0" vert="horz" wrap="square" lIns="140392" tIns="140392" rIns="140392" bIns="140392" numCol="1" spcCol="1270" anchor="ctr" anchorCtr="0">
          <a:noAutofit/>
        </a:bodyPr>
        <a:lstStyle/>
        <a:p>
          <a:pPr marL="0" lvl="0" indent="0" algn="just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 dirty="0">
              <a:solidFill>
                <a:schemeClr val="tx1"/>
              </a:solidFill>
            </a:rPr>
            <a:t>Stabilité face aux </a:t>
          </a:r>
          <a:r>
            <a:rPr lang="fr-FR" sz="3600" kern="1200" dirty="0" err="1">
              <a:solidFill>
                <a:schemeClr val="tx1"/>
              </a:solidFill>
            </a:rPr>
            <a:t>Outliers</a:t>
          </a:r>
          <a:r>
            <a:rPr lang="fr-FR" sz="3600" kern="1200" dirty="0">
              <a:solidFill>
                <a:schemeClr val="tx1"/>
              </a:solidFill>
            </a:rPr>
            <a:t> (RMSE) :Le modèle affiche le RMSE le plus bas de tous les tests. Cela confirme sa robustesse face aux </a:t>
          </a:r>
          <a:r>
            <a:rPr lang="fr-FR" sz="3600" kern="1200" dirty="0" err="1">
              <a:solidFill>
                <a:schemeClr val="tx1"/>
              </a:solidFill>
            </a:rPr>
            <a:t>outliers</a:t>
          </a:r>
          <a:r>
            <a:rPr lang="fr-FR" sz="3600" kern="1200" dirty="0">
              <a:solidFill>
                <a:schemeClr val="tx1"/>
              </a:solidFill>
            </a:rPr>
            <a:t> (valeurs extrêmes). Contrairement à d'autres modèles, le </a:t>
          </a:r>
          <a:r>
            <a:rPr lang="fr-FR" sz="3600" kern="1200" dirty="0" err="1">
              <a:solidFill>
                <a:schemeClr val="tx1"/>
              </a:solidFill>
            </a:rPr>
            <a:t>Random</a:t>
          </a:r>
          <a:r>
            <a:rPr lang="fr-FR" sz="3600" kern="1200" dirty="0">
              <a:solidFill>
                <a:schemeClr val="tx1"/>
              </a:solidFill>
            </a:rPr>
            <a:t> Forest n'est pas déstabilisé par les très grands bâtiments atypiques, assurant ainsi une stabilité prédictive sur l'ensemble du territoire. </a:t>
          </a:r>
          <a:endParaRPr lang="en-US" sz="3600" kern="1200" dirty="0">
            <a:solidFill>
              <a:schemeClr val="tx1"/>
            </a:solidFill>
          </a:endParaRPr>
        </a:p>
      </dsp:txBody>
      <dsp:txXfrm>
        <a:off x="1532160" y="3316363"/>
        <a:ext cx="9489853" cy="13265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#1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bkpt" val="endCnv"/>
          <dgm:param type="contDir" val="revDir"/>
          <dgm:param type="grDir" val="tL"/>
          <dgm:param type="flowDir" val="row"/>
        </dgm:alg>
      </dgm:if>
      <dgm:else name="Name2">
        <dgm:alg type="snake">
          <dgm:param type="bkpt" val="endCnv"/>
          <dgm:param type="contDir" val="rev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contDir" val="sameDir"/>
            <dgm:param type="grDir" val="tL"/>
            <dgm:param type="flowDir" val="row"/>
          </dgm:alg>
        </dgm:if>
        <dgm:else name="Name5">
          <dgm:alg type="snake">
            <dgm:param type="contDir" val="sameDir"/>
            <dgm:param type="grDir" val="tR"/>
            <dgm:param type="flowDir" val="row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parTxLTRAlign" val="l"/>
                  <dgm:param type="parTxRTLAlign" val="l"/>
                  <dgm:param type="shpTxLTRAlignCh" val="l"/>
                  <dgm:param type="shpTxRTLAlignCh" val="l"/>
                  <dgm:param type="txAnchorVert" val="mid"/>
                </dgm:alg>
              </dgm:if>
              <dgm:else name="Name9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  <dgm:param type="txAnchorVert" val="mid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D7A6F-B433-41E9-8FF9-78B684F1B113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297F9-2460-479D-86F2-B9EAFFB9E6BB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297F9-2460-479D-86F2-B9EAFFB9E6BB}" type="slidenum">
              <a:rPr lang="fr-FR" smtClean="0"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297F9-2460-479D-86F2-B9EAFFB9E6BB}" type="slidenum">
              <a:rPr lang="fr-FR" smtClean="0"/>
              <a:t>7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BE2C0B9-DAEE-44AD-8C0F-6134B7A285D1}" type="datetime1">
              <a:rPr lang="fr-FR" smtClean="0"/>
              <a:t>21/02/2026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C4862-8B31-486D-A61E-90A80EE4E59C}" type="datetime1">
              <a:rPr lang="fr-FR" smtClean="0"/>
              <a:t>21/02/2026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CF53-3BFE-4B19-B1B8-1CC114D608AD}" type="datetime1">
              <a:rPr lang="fr-FR" smtClean="0"/>
              <a:t>21/02/2026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C4862-8B31-486D-A61E-90A80EE4E59C}" type="datetime1">
              <a:rPr lang="fr-FR" smtClean="0"/>
              <a:t>21/02/2026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C4862-8B31-486D-A61E-90A80EE4E59C}" type="datetime1">
              <a:rPr lang="fr-FR" smtClean="0"/>
              <a:t>21/02/2026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B3C20-963C-4605-B333-CB0965AC30C5}" type="datetime1">
              <a:rPr lang="fr-FR" smtClean="0"/>
              <a:t>21/02/2026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47E9-1056-4166-AC08-FEDE460F6492}" type="datetime1">
              <a:rPr lang="fr-FR" smtClean="0"/>
              <a:t>21/02/2026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C4862-8B31-486D-A61E-90A80EE4E59C}" type="datetime1">
              <a:rPr lang="fr-FR" smtClean="0"/>
              <a:t>21/02/2026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58F5-49AE-4F36-A6CF-91F6C4CBA7C0}" type="datetime1">
              <a:rPr lang="fr-FR" smtClean="0"/>
              <a:t>21/02/2026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C4862-8B31-486D-A61E-90A80EE4E59C}" type="datetime1">
              <a:rPr lang="fr-FR" smtClean="0"/>
              <a:t>21/02/2026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C4862-8B31-486D-A61E-90A80EE4E59C}" type="datetime1">
              <a:rPr lang="fr-FR" smtClean="0"/>
              <a:t>21/02/2026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C4862-8B31-486D-A61E-90A80EE4E59C}" type="datetime1">
              <a:rPr lang="fr-FR" smtClean="0"/>
              <a:t>21/02/2026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C4862-8B31-486D-A61E-90A80EE4E59C}" type="datetime1">
              <a:rPr lang="fr-FR" smtClean="0"/>
              <a:t>21/02/2026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C4862-8B31-486D-A61E-90A80EE4E59C}" type="datetime1">
              <a:rPr lang="fr-FR" smtClean="0"/>
              <a:t>21/02/2026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C4862-8B31-486D-A61E-90A80EE4E59C}" type="datetime1">
              <a:rPr lang="fr-FR" smtClean="0"/>
              <a:t>21/02/2026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C4862-8B31-486D-A61E-90A80EE4E59C}" type="datetime1">
              <a:rPr lang="fr-FR" smtClean="0"/>
              <a:t>21/02/2026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C4862-8B31-486D-A61E-90A80EE4E59C}" type="datetime1">
              <a:rPr lang="fr-FR" smtClean="0"/>
              <a:t>21/02/2026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C4862-8B31-486D-A61E-90A80EE4E59C}" type="datetime1">
              <a:rPr lang="fr-FR" smtClean="0"/>
              <a:t>21/02/2026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04011-F647-4B11-9CC6-04CAD4BAE250}" type="slidenum">
              <a:rPr lang="fr-FR" smtClean="0"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jpe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176" name="Group 175"/>
          <p:cNvGrpSpPr>
            <a:grpSpLocks noGrp="1" noUngrp="1" noRot="1" noChangeAspect="1" noMove="1" noResize="1"/>
          </p:cNvGrpSpPr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7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 useBgFill="1">
        <p:nvSpPr>
          <p:cNvPr id="232" name="Rectangle 2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4" name="Group 233"/>
          <p:cNvGrpSpPr>
            <a:grpSpLocks noGrp="1" noUngrp="1" noRot="1" noChangeAspect="1" noMove="1" noResize="1"/>
          </p:cNvGrpSpPr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60000"/>
            </a:schemeClr>
          </a:solidFill>
          <a:effectLst/>
        </p:grpSpPr>
        <p:sp>
          <p:nvSpPr>
            <p:cNvPr id="235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6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7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8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9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0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1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2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3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4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5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6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7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8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9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0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1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2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3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4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5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6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7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8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9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0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1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2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3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4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5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6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7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8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9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0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1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2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3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4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5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6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7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8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9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0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1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2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3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4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5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6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7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8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290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9525"/>
            <a:ext cx="12192003" cy="6858001"/>
          </a:xfrm>
          <a:prstGeom prst="rect">
            <a:avLst/>
          </a:prstGeom>
          <a:noFill/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43113" y="1122363"/>
            <a:ext cx="4527929" cy="4287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200" dirty="0" err="1"/>
              <a:t>Anticipez</a:t>
            </a:r>
            <a:r>
              <a:rPr lang="en-US" sz="4200" dirty="0"/>
              <a:t> les </a:t>
            </a:r>
            <a:r>
              <a:rPr lang="en-US" sz="4200" dirty="0" err="1"/>
              <a:t>besoins</a:t>
            </a:r>
            <a:r>
              <a:rPr lang="en-US" sz="4200" dirty="0"/>
              <a:t> </a:t>
            </a:r>
            <a:r>
              <a:rPr lang="en-US" sz="4200" dirty="0" err="1"/>
              <a:t>en</a:t>
            </a:r>
            <a:r>
              <a:rPr lang="en-US" sz="4200" dirty="0"/>
              <a:t> </a:t>
            </a:r>
            <a:r>
              <a:rPr lang="en-US" sz="4200" dirty="0" err="1"/>
              <a:t>consommation</a:t>
            </a:r>
            <a:r>
              <a:rPr lang="en-US" sz="4200" dirty="0"/>
              <a:t> de </a:t>
            </a:r>
            <a:r>
              <a:rPr lang="en-US" sz="4200" dirty="0" err="1"/>
              <a:t>bâtiments</a:t>
            </a:r>
            <a:endParaRPr lang="en-US" sz="4200" dirty="0"/>
          </a:p>
        </p:txBody>
      </p:sp>
      <p:sp>
        <p:nvSpPr>
          <p:cNvPr id="169" name="ZoneTexte 168"/>
          <p:cNvSpPr txBox="1"/>
          <p:nvPr/>
        </p:nvSpPr>
        <p:spPr>
          <a:xfrm>
            <a:off x="7851631" y="1122363"/>
            <a:ext cx="4021020" cy="42878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sz="2400" b="1" cap="all">
                <a:solidFill>
                  <a:schemeClr val="tx2"/>
                </a:solidFill>
              </a:rPr>
              <a:t>Prédiction énergétique – Ville de Seattle</a:t>
            </a:r>
          </a:p>
        </p:txBody>
      </p:sp>
      <p:cxnSp>
        <p:nvCxnSpPr>
          <p:cNvPr id="292" name="Straight Connector 29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21133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re 1"/>
          <p:cNvSpPr txBox="1"/>
          <p:nvPr/>
        </p:nvSpPr>
        <p:spPr>
          <a:xfrm>
            <a:off x="1121569" y="2307694"/>
            <a:ext cx="10110788" cy="1935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800" dirty="0">
              <a:latin typeface="Agency FB" panose="020B05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230" name="Group 19"/>
          <p:cNvGrpSpPr>
            <a:grpSpLocks noGrp="1" noUngrp="1" noRot="1" noChangeAspect="1" noMove="1" noResize="1"/>
          </p:cNvGrpSpPr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21" name="Group 20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3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8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9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0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1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2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3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4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5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6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7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268" name="Group 60"/>
          <p:cNvGrpSpPr>
            <a:grpSpLocks noGrp="1" noUngrp="1" noRot="1" noChangeAspect="1" noMove="1" noResize="1"/>
          </p:cNvGrpSpPr>
          <p:nvPr/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2" name="Rectangle 61"/>
            <p:cNvSpPr/>
            <p:nvPr/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3" name="Picture 2"/>
            <p:cNvPicPr>
              <a:picLocks noChangeAspect="1" noChangeArrowheads="1"/>
            </p:cNvPicPr>
            <p:nvPr/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</p:spPr>
        </p:pic>
      </p:grpSp>
      <p:pic>
        <p:nvPicPr>
          <p:cNvPr id="269" name="Picture 13"/>
          <p:cNvPicPr>
            <a:picLocks noChangeAspect="1"/>
          </p:cNvPicPr>
          <p:nvPr/>
        </p:nvPicPr>
        <p:blipFill>
          <a:blip r:embed="rId4"/>
          <a:srcRect l="5078" r="56900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270" name="Group 64"/>
          <p:cNvGrpSpPr>
            <a:grpSpLocks noGrp="1" noUngrp="1" noRot="1" noChangeAspect="1" noMove="1" noResize="1"/>
          </p:cNvGrpSpPr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271" name="Rectangle 270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2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3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4" name="Rectangle 273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5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6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7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8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9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0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1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2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3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4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5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6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7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8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9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0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1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2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3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4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5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6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3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7" name="Rectangle 296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8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9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0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1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2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3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4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5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6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7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8" name="Rectangle 307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9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0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1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2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3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4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5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6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7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8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9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0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1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F1504011-F647-4B11-9CC6-04CAD4BAE25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324" name="ZoneTexte 321"/>
          <p:cNvGraphicFramePr/>
          <p:nvPr/>
        </p:nvGraphicFramePr>
        <p:xfrm>
          <a:off x="4968958" y="2249487"/>
          <a:ext cx="6078453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" name="ZoneTexte 1"/>
          <p:cNvSpPr txBox="1"/>
          <p:nvPr/>
        </p:nvSpPr>
        <p:spPr>
          <a:xfrm>
            <a:off x="5039561" y="456406"/>
            <a:ext cx="6609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Le contexte et l’enjeu métier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416472" y="1086544"/>
            <a:ext cx="11038110" cy="37607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endParaRPr lang="en-US" sz="1400" dirty="0">
              <a:latin typeface="Inter" panose="020B0604020202020204" charset="0"/>
              <a:ea typeface="Inter" panose="020B060402020202020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400" dirty="0">
              <a:latin typeface="Inter" panose="020B0604020202020204" charset="0"/>
              <a:ea typeface="Inter" panose="020B0604020202020204" charset="0"/>
              <a:cs typeface="Calibri Light" panose="020F0302020204030204" pitchFamily="34" charset="0"/>
            </a:endParaRPr>
          </a:p>
          <a:p>
            <a:pPr indent="0">
              <a:lnSpc>
                <a:spcPct val="150000"/>
              </a:lnSpc>
              <a:buNone/>
            </a:pPr>
            <a:endParaRPr lang="en-US" sz="1400" dirty="0">
              <a:latin typeface="Inter" panose="020B0604020202020204" charset="0"/>
              <a:ea typeface="Inter" panose="020B0604020202020204" charset="0"/>
              <a:cs typeface="Calibri Light" panose="020F0302020204030204" pitchFamily="34" charset="0"/>
            </a:endParaRPr>
          </a:p>
          <a:p>
            <a:pPr indent="0">
              <a:lnSpc>
                <a:spcPct val="150000"/>
              </a:lnSpc>
              <a:buNone/>
            </a:pPr>
            <a:endParaRPr lang="en-US" sz="1400" dirty="0">
              <a:latin typeface="Inter" panose="020B0604020202020204" charset="0"/>
              <a:ea typeface="Inter" panose="020B0604020202020204" charset="0"/>
              <a:cs typeface="Calibri Light" panose="020F030202020403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93789" y="3760470"/>
            <a:ext cx="342530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Wingdings" panose="05000000000000000000" pitchFamily="2" charset="2"/>
              <a:buChar char="q"/>
            </a:pPr>
            <a:endParaRPr lang="en-US" sz="2000" b="1" dirty="0">
              <a:solidFill>
                <a:srgbClr val="272525"/>
              </a:solidFill>
              <a:latin typeface="Inter"/>
              <a:ea typeface="Inter Bold" pitchFamily="3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626642" y="3428999"/>
            <a:ext cx="403468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Inter" panose="020B0604020202020204" charset="0"/>
              <a:ea typeface="Inter" panose="020B0604020202020204" charset="0"/>
              <a:cs typeface="Calibri Light" panose="020F030202020403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339953" y="5307726"/>
            <a:ext cx="3767614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Inter" panose="020B0604020202020204" charset="0"/>
              <a:ea typeface="Inter" panose="020B0604020202020204" charset="0"/>
              <a:cs typeface="Calibri Light" panose="020F030202020403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316376" y="5307806"/>
            <a:ext cx="3767614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Inter" panose="020B0604020202020204" charset="0"/>
              <a:ea typeface="Inter" panose="020B0604020202020204" charset="0"/>
              <a:cs typeface="Calibri Light" panose="020F0302020204030204" pitchFamily="34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16472" y="425190"/>
            <a:ext cx="11359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Comprendre la distribution : Le défi des extrêmes</a:t>
            </a:r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3</a:t>
            </a:fld>
            <a:endParaRPr lang="fr-FR"/>
          </a:p>
        </p:txBody>
      </p:sp>
      <p:graphicFrame>
        <p:nvGraphicFramePr>
          <p:cNvPr id="26" name="ZoneTexte 14"/>
          <p:cNvGraphicFramePr/>
          <p:nvPr/>
        </p:nvGraphicFramePr>
        <p:xfrm>
          <a:off x="416472" y="1537398"/>
          <a:ext cx="11460680" cy="4197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91" y="0"/>
            <a:ext cx="12192003" cy="6858001"/>
          </a:xfrm>
          <a:prstGeom prst="rect">
            <a:avLst/>
          </a:prstGeom>
          <a:noFill/>
        </p:spPr>
      </p:pic>
      <p:grpSp>
        <p:nvGrpSpPr>
          <p:cNvPr id="128" name="Group 127"/>
          <p:cNvGrpSpPr>
            <a:grpSpLocks noGrp="1" noUngrp="1" noRot="1" noChangeAspect="1" noMove="1" noResize="1"/>
          </p:cNvGrpSpPr>
          <p:nvPr/>
        </p:nvGrpSpPr>
        <p:grpSpPr>
          <a:xfrm>
            <a:off x="0" y="0"/>
            <a:ext cx="12053888" cy="6858001"/>
            <a:chOff x="-14288" y="0"/>
            <a:chExt cx="12053888" cy="6858001"/>
          </a:xfrm>
        </p:grpSpPr>
        <p:grpSp>
          <p:nvGrpSpPr>
            <p:cNvPr id="129" name="Group 12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30" name="Group 12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3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sp useBgFill="1">
        <p:nvSpPr>
          <p:cNvPr id="169" name="Rectangle 16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Espace réservé du numéro de diapositive 29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1504011-F647-4B11-9CC6-04CAD4BAE250}" type="slidenum"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4</a:t>
            </a:fld>
            <a:endParaRPr lang="en-US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21" name="ZoneTexte 24"/>
          <p:cNvGraphicFramePr/>
          <p:nvPr>
            <p:extLst>
              <p:ext uri="{D42A27DB-BD31-4B8C-83A1-F6EECF244321}">
                <p14:modId xmlns:p14="http://schemas.microsoft.com/office/powerpoint/2010/main" val="170594829"/>
              </p:ext>
            </p:extLst>
          </p:nvPr>
        </p:nvGraphicFramePr>
        <p:xfrm>
          <a:off x="114300" y="1008876"/>
          <a:ext cx="11939588" cy="5022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ZoneTexte 1"/>
          <p:cNvSpPr txBox="1"/>
          <p:nvPr/>
        </p:nvSpPr>
        <p:spPr>
          <a:xfrm>
            <a:off x="152400" y="236220"/>
            <a:ext cx="119024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Préparation des données et traitement des anomalies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5</a:t>
            </a:fld>
            <a:endParaRPr lang="fr-FR"/>
          </a:p>
        </p:txBody>
      </p:sp>
      <p:graphicFrame>
        <p:nvGraphicFramePr>
          <p:cNvPr id="13" name="ZoneTexte 8"/>
          <p:cNvGraphicFramePr/>
          <p:nvPr/>
        </p:nvGraphicFramePr>
        <p:xfrm>
          <a:off x="658761" y="1861798"/>
          <a:ext cx="10999839" cy="336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ZoneTexte 1"/>
          <p:cNvSpPr txBox="1"/>
          <p:nvPr/>
        </p:nvSpPr>
        <p:spPr>
          <a:xfrm>
            <a:off x="573788" y="227441"/>
            <a:ext cx="113590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Préparation du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: De la donnée brute au périmètre d'étude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/>
          <p:cNvSpPr txBox="1"/>
          <p:nvPr/>
        </p:nvSpPr>
        <p:spPr>
          <a:xfrm>
            <a:off x="544555" y="1438163"/>
            <a:ext cx="11102889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Approche :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Mise en compétition de trois modèles pour identifier la meilleure capacité de généralisation.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Résultats des Tests :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1" name="Espace réservé du numéro de diapositive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6</a:t>
            </a:fld>
            <a:endParaRPr lang="fr-FR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776359" y="2974044"/>
          <a:ext cx="8639279" cy="2374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2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626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Indicateur de Performance</a:t>
                      </a:r>
                    </a:p>
                  </a:txBody>
                  <a:tcPr marL="22860" marR="22860" marT="15240" marB="152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 err="1">
                          <a:effectLst/>
                        </a:rPr>
                        <a:t>Random</a:t>
                      </a:r>
                      <a:r>
                        <a:rPr lang="fr-FR" dirty="0">
                          <a:effectLst/>
                        </a:rPr>
                        <a:t> Forest (Champion)</a:t>
                      </a:r>
                    </a:p>
                  </a:txBody>
                  <a:tcPr marL="22860" marR="22860" marT="15240" marB="152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SVR</a:t>
                      </a:r>
                    </a:p>
                  </a:txBody>
                  <a:tcPr marL="22860" marR="22860" marT="15240" marB="152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Régression Linéaire</a:t>
                      </a:r>
                    </a:p>
                  </a:txBody>
                  <a:tcPr marL="0" marR="0" marT="15240" marB="1524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90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fr-FR" dirty="0">
                          <a:effectLst/>
                        </a:rPr>
                        <a:t>R2 Score (Précision)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    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0.52 </a:t>
                      </a:r>
                      <a:endParaRPr lang="fr-FR" dirty="0">
                        <a:effectLst/>
                      </a:endParaRP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0.46</a:t>
                      </a:r>
                      <a:endParaRPr lang="fr-FR" dirty="0">
                        <a:effectLst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26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fr-FR" dirty="0">
                          <a:effectLst/>
                        </a:rPr>
                        <a:t>MAE (Erreur Moyenne)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3,045,258 (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kBtu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fr-FR" dirty="0">
                        <a:effectLst/>
                      </a:endParaRP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3,943,924 (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kBtu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fr-FR" dirty="0">
                        <a:effectLst/>
                      </a:endParaRP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73,449,737 (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kBtu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fr-FR" dirty="0">
                        <a:effectLst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26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fr-FR" dirty="0">
                          <a:effectLst/>
                        </a:rPr>
                        <a:t>RMSE (Impact des erreurs)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7,856,712 (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kBtu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fr-FR" dirty="0">
                        <a:effectLst/>
                      </a:endParaRP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9,824,737 (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kBtu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fr-FR" dirty="0">
                        <a:effectLst/>
                      </a:endParaRP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882,983,280 (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kBtu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fr-FR" dirty="0">
                        <a:effectLst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ZoneTexte 1"/>
          <p:cNvSpPr txBox="1"/>
          <p:nvPr/>
        </p:nvSpPr>
        <p:spPr>
          <a:xfrm>
            <a:off x="544555" y="404345"/>
            <a:ext cx="11359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Comparaison des Performances des  Modèles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91" y="0"/>
            <a:ext cx="12192003" cy="6858001"/>
          </a:xfrm>
          <a:prstGeom prst="rect">
            <a:avLst/>
          </a:prstGeom>
          <a:noFill/>
        </p:spPr>
      </p:pic>
      <p:grpSp>
        <p:nvGrpSpPr>
          <p:cNvPr id="65" name="Group 64"/>
          <p:cNvGrpSpPr>
            <a:grpSpLocks noGrp="1" noUngrp="1" noRot="1" noChangeAspect="1" noMove="1" noResize="1"/>
          </p:cNvGrpSpPr>
          <p:nvPr/>
        </p:nvGrpSpPr>
        <p:grpSpPr>
          <a:xfrm>
            <a:off x="0" y="0"/>
            <a:ext cx="12053888" cy="6858001"/>
            <a:chOff x="-14288" y="0"/>
            <a:chExt cx="12053888" cy="6858001"/>
          </a:xfrm>
        </p:grpSpPr>
        <p:grpSp>
          <p:nvGrpSpPr>
            <p:cNvPr id="66" name="Group 65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8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9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0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1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2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3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4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5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6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7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8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9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0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1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2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3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4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5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6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7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8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9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0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1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3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8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0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1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2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3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4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5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6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7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sp useBgFill="1">
        <p:nvSpPr>
          <p:cNvPr id="106" name="Rectangle 10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10276321" y="6325403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1504011-F647-4B11-9CC6-04CAD4BAE250}" type="slidenum"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</a:t>
            </a:fld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1" name="ZoneTexte 7"/>
          <p:cNvGraphicFramePr/>
          <p:nvPr/>
        </p:nvGraphicFramePr>
        <p:xfrm>
          <a:off x="593725" y="1382713"/>
          <a:ext cx="11022013" cy="4642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544555" y="404345"/>
            <a:ext cx="11359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Comparaison des Performances des  Modèles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442451" y="1167996"/>
            <a:ext cx="11307097" cy="471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 Méthodologie : Recherche par Grille (</a:t>
            </a:r>
            <a:r>
              <a:rPr lang="fr-F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GridSearchCV</a:t>
            </a: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) 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  <a:cs typeface="Arial" panose="020B0604020202020204" pitchFamily="34" charset="0"/>
              </a:rPr>
              <a:t>Objectif : Ne pas choisir les paramètres au hasard, mais trouver la configuration mathématique optimale.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  <a:cs typeface="Arial" panose="020B0604020202020204" pitchFamily="34" charset="0"/>
              </a:rPr>
              <a:t>Processus : Automatisation du test de plusieurs combinaisons d'hyperparamètres pour le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Random</a:t>
            </a:r>
            <a:r>
              <a:rPr lang="fr-FR" dirty="0">
                <a:latin typeface="+mj-lt"/>
                <a:cs typeface="Arial" panose="020B0604020202020204" pitchFamily="34" charset="0"/>
              </a:rPr>
              <a:t> Forest.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  <a:cs typeface="Arial" panose="020B0604020202020204" pitchFamily="34" charset="0"/>
              </a:rPr>
              <a:t>Résultat : Sélection de la meilleure architecture pour maximiser la précision (R²).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2.  Fiabilité : Validation Croisée (5-Fold) 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  <a:cs typeface="Arial" panose="020B0604020202020204" pitchFamily="34" charset="0"/>
              </a:rPr>
              <a:t>Le principe : Le parc immobilier est découpé en 5 segments. Le modèle s'entraîne sur 4 segments et se teste sur le 5ème, en tournant 5 fois.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  <a:cs typeface="Arial" panose="020B0604020202020204" pitchFamily="34" charset="0"/>
              </a:rPr>
              <a:t>L'intérêt : Garantit que notre score de 0.7 n'est pas dû au hasard (pas de sur-apprentissage).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  <a:cs typeface="Arial" panose="020B0604020202020204" pitchFamily="34" charset="0"/>
              </a:rPr>
              <a:t>Bénéfice métier : Le modèle est robuste et prêt à prédire la consommation de n'importe quel nouveau bâtiment à Seattle.</a:t>
            </a: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8</a:t>
            </a:fld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294967" y="286435"/>
            <a:ext cx="11359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Optimisation et Robustesse du Modèle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9</a:t>
            </a:fld>
            <a:endParaRPr lang="fr-FR"/>
          </a:p>
        </p:txBody>
      </p:sp>
      <p:graphicFrame>
        <p:nvGraphicFramePr>
          <p:cNvPr id="2" name="Tableau 1"/>
          <p:cNvGraphicFramePr>
            <a:graphicFrameLocks noGrp="1"/>
          </p:cNvGraphicFramePr>
          <p:nvPr/>
        </p:nvGraphicFramePr>
        <p:xfrm>
          <a:off x="2158179" y="1829406"/>
          <a:ext cx="7364361" cy="2709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9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709"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Paramètre</a:t>
                      </a:r>
                    </a:p>
                  </a:txBody>
                  <a:tcPr marL="22860" marR="22860" marT="15240" marB="152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Rôle stratégique</a:t>
                      </a:r>
                    </a:p>
                  </a:txBody>
                  <a:tcPr marL="22860" marR="22860" marT="15240" marB="1524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559"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fr-FR" dirty="0" err="1">
                          <a:effectLst/>
                        </a:rPr>
                        <a:t>n_estimators</a:t>
                      </a:r>
                      <a:endParaRPr lang="fr-FR" dirty="0">
                        <a:effectLst/>
                      </a:endParaRP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fr-FR" dirty="0"/>
                        <a:t>Optimisation du nombre d'arbres pour stabiliser la prédiction.</a:t>
                      </a:r>
                      <a:endParaRPr lang="fr-FR" dirty="0">
                        <a:effectLst/>
                      </a:endParaRPr>
                    </a:p>
                  </a:txBody>
                  <a:tcPr marL="0" marR="0" marT="15240" marB="152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0508"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fr-FR">
                          <a:effectLst/>
                        </a:rPr>
                        <a:t>max_depth</a:t>
                      </a:r>
                      <a:endParaRPr lang="fr-FR" dirty="0">
                        <a:effectLst/>
                      </a:endParaRP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fr-FR" dirty="0"/>
                        <a:t>Contrôle de la profondeur pour éviter que le modèle n'apprenne "par cœur" les données de test.</a:t>
                      </a:r>
                      <a:endParaRPr lang="fr-FR" dirty="0">
                        <a:effectLst/>
                      </a:endParaRPr>
                    </a:p>
                  </a:txBody>
                  <a:tcPr marL="0" marR="0" marT="15240" marB="1524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559"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fr-FR" dirty="0" err="1">
                          <a:effectLst/>
                        </a:rPr>
                        <a:t>min_samples_split</a:t>
                      </a:r>
                      <a:endParaRPr lang="fr-FR" dirty="0">
                        <a:effectLst/>
                      </a:endParaRP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Contrôle la précision des "branches" de décision.</a:t>
                      </a:r>
                    </a:p>
                  </a:txBody>
                  <a:tcPr marL="0" marR="0" marT="15240" marB="1524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427703" y="4784971"/>
            <a:ext cx="112263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Résultat :</a:t>
            </a:r>
            <a:r>
              <a:rPr lang="fr-FR" sz="2000" dirty="0"/>
              <a:t> </a:t>
            </a:r>
            <a:r>
              <a:rPr lang="fr-FR" dirty="0"/>
              <a:t>Un modèle "tout-terrain", capable de prédire aussi bien la consommation d'un petit entrepôt que d'un grand hôpital à Seattle.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427703" y="1086180"/>
            <a:ext cx="6238568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3.  Paramètres et rôles stratégiques :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294967" y="286435"/>
            <a:ext cx="11359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Optimisation et Robustesse du Modèle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011-F647-4B11-9CC6-04CAD4BAE250}" type="slidenum">
              <a:rPr lang="fr-FR" smtClean="0"/>
              <a:t>10</a:t>
            </a:fld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537977" y="5388728"/>
            <a:ext cx="1122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La variable ENERGY STAR Score a été exclue pour éviter le Data </a:t>
            </a:r>
            <a:r>
              <a:rPr lang="fr-FR" dirty="0" err="1"/>
              <a:t>Leakage</a:t>
            </a:r>
            <a:r>
              <a:rPr lang="fr-FR" dirty="0"/>
              <a:t> et garantir l'utilité du modèle sur des bâtiments non audités.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294967" y="195592"/>
            <a:ext cx="113590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Importance : Ce que le modèle a appris de Seattle</a:t>
            </a:r>
          </a:p>
        </p:txBody>
      </p:sp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537977" y="1510943"/>
          <a:ext cx="11132405" cy="3695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1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4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Facteur Clé</a:t>
                      </a:r>
                    </a:p>
                  </a:txBody>
                  <a:tcPr marL="22860" marR="22860" marT="15240" marB="152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Importance</a:t>
                      </a:r>
                    </a:p>
                  </a:txBody>
                  <a:tcPr marL="22860" marR="22860" marT="15240" marB="152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Analyse Métier</a:t>
                      </a:r>
                    </a:p>
                  </a:txBody>
                  <a:tcPr marL="22860" marR="22860" marT="15240" marB="152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Verdict Stratégique</a:t>
                      </a:r>
                    </a:p>
                  </a:txBody>
                  <a:tcPr marL="0" marR="0" marT="15240" marB="1524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55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Surface Totale (GFA)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67%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Relation physique directe : plus le volume est grand, plus les besoins en chauffage/éclairage explosent.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Moteur n°1 : La taille dicte les deux tiers de la consommation.</a:t>
                      </a:r>
                    </a:p>
                  </a:txBody>
                  <a:tcPr marL="0" marR="0" marT="15240" marB="152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69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Usage du Bâtiment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14%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Identification des profils énergivores : Supermarchés (froid), Entrepôts et Centres de données.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Ciblage Précis : Le modèle adapte la prédiction au métier du bâtiment.</a:t>
                      </a:r>
                    </a:p>
                  </a:txBody>
                  <a:tcPr marL="0" marR="0" marT="15240" marB="1524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804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>
                          <a:effectLst/>
                        </a:rPr>
                        <a:t>Âge &amp; Isolation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7%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Reflet de la vétusté des équipements et de la performance de l'enveloppe thermique (normes RT).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Indicateur de Rénovation : Priorité aux structures anciennes.</a:t>
                      </a:r>
                    </a:p>
                  </a:txBody>
                  <a:tcPr marL="0" marR="0" marT="15240" marB="1524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0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>
                          <a:effectLst/>
                        </a:rPr>
                        <a:t>Mix Énergétique (Gas)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1%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Différenciation entre les systèmes de chauffage (Gaz vs Électrique).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Signature Technique : Un marqueur clé du mode de consommation.</a:t>
                      </a:r>
                    </a:p>
                  </a:txBody>
                  <a:tcPr marL="0" marR="0" marT="15240" marB="1524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20" name="Group 19"/>
          <p:cNvGrpSpPr>
            <a:grpSpLocks noGrp="1" noUngrp="1" noRot="1" noChangeAspect="1" noMove="1" noResize="1"/>
          </p:cNvGrpSpPr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21" name="Group 20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33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4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5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6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7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8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9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0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1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2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3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4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5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6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8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9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1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2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3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4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5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6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7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8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9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3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9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0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2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61" name="Group 60"/>
          <p:cNvGrpSpPr>
            <a:grpSpLocks noGrp="1" noUngrp="1" noRot="1" noChangeAspect="1" noMove="1" noResize="1"/>
          </p:cNvGrpSpPr>
          <p:nvPr/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2" name="Rectangle 61"/>
            <p:cNvSpPr/>
            <p:nvPr/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3" name="Picture 2"/>
            <p:cNvPicPr>
              <a:picLocks noChangeAspect="1" noChangeArrowheads="1"/>
            </p:cNvPicPr>
            <p:nvPr/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</p:spPr>
        </p:pic>
      </p:grpSp>
      <p:sp>
        <p:nvSpPr>
          <p:cNvPr id="2" name="ZoneTexte 1"/>
          <p:cNvSpPr txBox="1"/>
          <p:nvPr/>
        </p:nvSpPr>
        <p:spPr>
          <a:xfrm>
            <a:off x="4996697" y="618518"/>
            <a:ext cx="6050713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cap="all" dirty="0">
                <a:latin typeface="+mj-lt"/>
                <a:ea typeface="+mj-ea"/>
                <a:cs typeface="+mj-cs"/>
              </a:rPr>
              <a:t>Conclusion</a:t>
            </a:r>
          </a:p>
        </p:txBody>
      </p:sp>
      <p:pic>
        <p:nvPicPr>
          <p:cNvPr id="14" name="Picture 13" descr="rendu 3D d’une ville en blanc"/>
          <p:cNvPicPr>
            <a:picLocks noChangeAspect="1"/>
          </p:cNvPicPr>
          <p:nvPr/>
        </p:nvPicPr>
        <p:blipFill>
          <a:blip r:embed="rId4"/>
          <a:srcRect l="26047" r="32889" b="-1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65" name="Group 64"/>
          <p:cNvGrpSpPr>
            <a:grpSpLocks noGrp="1" noUngrp="1" noRot="1" noChangeAspect="1" noMove="1" noResize="1"/>
          </p:cNvGrpSpPr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66" name="Rectangle 6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8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1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2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3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4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5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7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9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0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1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2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3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4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6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7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8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0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2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3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4" name="Rectangle 9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6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7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8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0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1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2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3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4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5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6" name="Rectangle 10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7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8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9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0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1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2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3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4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5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6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7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8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9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" name="ZoneTexte 2"/>
          <p:cNvSpPr txBox="1"/>
          <p:nvPr/>
        </p:nvSpPr>
        <p:spPr>
          <a:xfrm>
            <a:off x="4968958" y="2249487"/>
            <a:ext cx="6808704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just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Ce </a:t>
            </a:r>
            <a:r>
              <a:rPr lang="en-US" dirty="0" err="1"/>
              <a:t>projet</a:t>
            </a:r>
            <a:r>
              <a:rPr lang="en-US" dirty="0"/>
              <a:t> </a:t>
            </a:r>
            <a:r>
              <a:rPr lang="en-US" dirty="0" err="1"/>
              <a:t>démontre</a:t>
            </a:r>
            <a:r>
              <a:rPr lang="en-US" dirty="0"/>
              <a:t> </a:t>
            </a:r>
            <a:r>
              <a:rPr lang="en-US" dirty="0" err="1"/>
              <a:t>qu'il</a:t>
            </a:r>
            <a:r>
              <a:rPr lang="en-US" dirty="0"/>
              <a:t> est possible de </a:t>
            </a:r>
            <a:r>
              <a:rPr lang="en-US" dirty="0" err="1"/>
              <a:t>prédire</a:t>
            </a:r>
            <a:r>
              <a:rPr lang="en-US" dirty="0"/>
              <a:t> avec </a:t>
            </a:r>
            <a:r>
              <a:rPr lang="en-US" dirty="0" err="1"/>
              <a:t>fiabilité</a:t>
            </a:r>
            <a:r>
              <a:rPr lang="en-US" dirty="0"/>
              <a:t> la </a:t>
            </a:r>
            <a:r>
              <a:rPr lang="en-US" dirty="0" err="1"/>
              <a:t>consommation</a:t>
            </a:r>
            <a:r>
              <a:rPr lang="en-US" dirty="0"/>
              <a:t> </a:t>
            </a:r>
            <a:r>
              <a:rPr lang="en-US" dirty="0" err="1"/>
              <a:t>énergétique</a:t>
            </a:r>
            <a:r>
              <a:rPr lang="en-US" dirty="0"/>
              <a:t> des </a:t>
            </a:r>
            <a:r>
              <a:rPr lang="en-US" dirty="0" err="1"/>
              <a:t>bâtiments</a:t>
            </a:r>
            <a:r>
              <a:rPr lang="en-US" dirty="0"/>
              <a:t> non-</a:t>
            </a:r>
            <a:r>
              <a:rPr lang="en-US" dirty="0" err="1"/>
              <a:t>résidentiels</a:t>
            </a:r>
            <a:r>
              <a:rPr lang="en-US" dirty="0"/>
              <a:t> grâce à des données </a:t>
            </a:r>
            <a:r>
              <a:rPr lang="en-US" dirty="0" err="1"/>
              <a:t>structurelles</a:t>
            </a:r>
            <a:r>
              <a:rPr lang="en-US" dirty="0"/>
              <a:t> simples (usage, surface, </a:t>
            </a:r>
            <a:r>
              <a:rPr lang="en-US" dirty="0" err="1"/>
              <a:t>âge</a:t>
            </a:r>
            <a:r>
              <a:rPr lang="en-US" dirty="0"/>
              <a:t>). Avec un </a:t>
            </a:r>
            <a:r>
              <a:rPr lang="en-US" dirty="0" err="1"/>
              <a:t>modèle</a:t>
            </a:r>
            <a:r>
              <a:rPr lang="en-US" dirty="0"/>
              <a:t> Random Forest </a:t>
            </a:r>
            <a:r>
              <a:rPr lang="en-US" dirty="0" err="1"/>
              <a:t>atteignant</a:t>
            </a:r>
            <a:r>
              <a:rPr lang="en-US" dirty="0"/>
              <a:t> un score R² de 0,7, la </a:t>
            </a:r>
            <a:r>
              <a:rPr lang="en-US" dirty="0" err="1"/>
              <a:t>ville</a:t>
            </a:r>
            <a:r>
              <a:rPr lang="en-US" dirty="0"/>
              <a:t> de Seattle dispose </a:t>
            </a:r>
            <a:r>
              <a:rPr lang="en-US" dirty="0" err="1"/>
              <a:t>désormais</a:t>
            </a:r>
            <a:r>
              <a:rPr lang="en-US" dirty="0"/>
              <a:t> d'un </a:t>
            </a:r>
            <a:r>
              <a:rPr lang="en-US" dirty="0" err="1"/>
              <a:t>véritable</a:t>
            </a:r>
            <a:r>
              <a:rPr lang="en-US" dirty="0"/>
              <a:t> « radar </a:t>
            </a:r>
            <a:r>
              <a:rPr lang="en-US" dirty="0" err="1"/>
              <a:t>énergétique</a:t>
            </a:r>
            <a:r>
              <a:rPr lang="en-US" dirty="0"/>
              <a:t> ». Cet </a:t>
            </a:r>
            <a:r>
              <a:rPr lang="en-US" dirty="0" err="1"/>
              <a:t>outil</a:t>
            </a:r>
            <a:r>
              <a:rPr lang="en-US" dirty="0"/>
              <a:t> </a:t>
            </a:r>
            <a:r>
              <a:rPr lang="en-US" dirty="0" err="1"/>
              <a:t>permet</a:t>
            </a:r>
            <a:r>
              <a:rPr lang="en-US" dirty="0"/>
              <a:t> de </a:t>
            </a:r>
            <a:r>
              <a:rPr lang="en-US" dirty="0" err="1"/>
              <a:t>cibler</a:t>
            </a:r>
            <a:r>
              <a:rPr lang="en-US" dirty="0"/>
              <a:t> </a:t>
            </a:r>
            <a:r>
              <a:rPr lang="en-US" dirty="0" err="1"/>
              <a:t>prioritairement</a:t>
            </a:r>
            <a:r>
              <a:rPr lang="en-US" dirty="0"/>
              <a:t> les </a:t>
            </a:r>
            <a:r>
              <a:rPr lang="en-US" dirty="0" err="1"/>
              <a:t>bâtiments</a:t>
            </a:r>
            <a:r>
              <a:rPr lang="en-US" dirty="0"/>
              <a:t> les plus </a:t>
            </a:r>
            <a:r>
              <a:rPr lang="en-US" dirty="0" err="1"/>
              <a:t>énergivores</a:t>
            </a:r>
            <a:r>
              <a:rPr lang="en-US" dirty="0"/>
              <a:t> sans </a:t>
            </a:r>
            <a:r>
              <a:rPr lang="en-US" dirty="0" err="1"/>
              <a:t>attendre</a:t>
            </a:r>
            <a:r>
              <a:rPr lang="en-US" dirty="0"/>
              <a:t> des audits physiques </a:t>
            </a:r>
            <a:r>
              <a:rPr lang="en-US" dirty="0" err="1"/>
              <a:t>coûteux</a:t>
            </a:r>
            <a:r>
              <a:rPr lang="en-US" dirty="0"/>
              <a:t>, </a:t>
            </a:r>
            <a:r>
              <a:rPr lang="en-US" dirty="0" err="1"/>
              <a:t>optimisant</a:t>
            </a:r>
            <a:r>
              <a:rPr lang="en-US" dirty="0"/>
              <a:t> </a:t>
            </a:r>
            <a:r>
              <a:rPr lang="en-US" dirty="0" err="1"/>
              <a:t>ainsi</a:t>
            </a:r>
            <a:r>
              <a:rPr lang="en-US" dirty="0"/>
              <a:t> </a:t>
            </a:r>
            <a:r>
              <a:rPr lang="en-US" dirty="0" err="1"/>
              <a:t>l'allocation</a:t>
            </a:r>
            <a:r>
              <a:rPr lang="en-US" dirty="0"/>
              <a:t> des subventions pour </a:t>
            </a:r>
            <a:r>
              <a:rPr lang="en-US" dirty="0" err="1"/>
              <a:t>atteindre</a:t>
            </a:r>
            <a:r>
              <a:rPr lang="en-US" dirty="0"/>
              <a:t> les </a:t>
            </a:r>
            <a:r>
              <a:rPr lang="en-US" dirty="0" err="1"/>
              <a:t>objectifs</a:t>
            </a:r>
            <a:r>
              <a:rPr lang="en-US" dirty="0"/>
              <a:t> de </a:t>
            </a:r>
            <a:r>
              <a:rPr lang="en-US" dirty="0" err="1"/>
              <a:t>neutralité</a:t>
            </a:r>
            <a:r>
              <a:rPr lang="en-US" dirty="0"/>
              <a:t> </a:t>
            </a:r>
            <a:r>
              <a:rPr lang="en-US" dirty="0" err="1"/>
              <a:t>carbone</a:t>
            </a:r>
            <a:r>
              <a:rPr lang="en-US" dirty="0"/>
              <a:t> </a:t>
            </a:r>
            <a:r>
              <a:rPr lang="en-US" dirty="0" err="1"/>
              <a:t>d'ici</a:t>
            </a:r>
            <a:r>
              <a:rPr lang="en-US" dirty="0"/>
              <a:t> 2050.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F1504011-F647-4B11-9CC6-04CAD4BAE250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1149</Words>
  <Application>Microsoft Office PowerPoint</Application>
  <PresentationFormat>Grand écran</PresentationFormat>
  <Paragraphs>106</Paragraphs>
  <Slides>11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Agency FB</vt:lpstr>
      <vt:lpstr>Aptos</vt:lpstr>
      <vt:lpstr>Arial</vt:lpstr>
      <vt:lpstr>Inter</vt:lpstr>
      <vt:lpstr>Tw Cen MT</vt:lpstr>
      <vt:lpstr>Wingdings</vt:lpstr>
      <vt:lpstr>Circuit</vt:lpstr>
      <vt:lpstr>Anticipez les besoins en consommation de bâtiments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Oumayma Selmen</dc:creator>
  <cp:lastModifiedBy>Oumayma Selmen</cp:lastModifiedBy>
  <cp:revision>11</cp:revision>
  <dcterms:created xsi:type="dcterms:W3CDTF">2026-02-13T10:09:00Z</dcterms:created>
  <dcterms:modified xsi:type="dcterms:W3CDTF">2026-02-21T15:52:55Z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B691A51F216C410DBB2A4AF87724998E_12</vt:lpwstr>
  </property>
  <property fmtid="{D5CDD505-2E9C-101B-9397-08002B2CF9AE}" pid="3" name="KSOProductBuildVer">
    <vt:lpwstr>1036-12.2.0.23196</vt:lpwstr>
  </property>
</Properties>
</file>